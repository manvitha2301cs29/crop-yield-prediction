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Roboto"/>
      <p:regular r:id="rId21"/>
      <p:bold r:id="rId22"/>
      <p:italic r:id="rId23"/>
      <p:boldItalic r:id="rId24"/>
    </p:embeddedFont>
    <p:embeddedFont>
      <p:font typeface="Roboto Medium"/>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57EC6B8-CC8A-4944-BB13-1CE606FE3346}">
  <a:tblStyle styleId="{757EC6B8-CC8A-4944-BB13-1CE606FE334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Medium-bold.fntdata"/><Relationship Id="rId25" Type="http://schemas.openxmlformats.org/officeDocument/2006/relationships/font" Target="fonts/RobotoMedium-regular.fntdata"/><Relationship Id="rId28" Type="http://schemas.openxmlformats.org/officeDocument/2006/relationships/font" Target="fonts/RobotoMedium-boldItalic.fntdata"/><Relationship Id="rId27" Type="http://schemas.openxmlformats.org/officeDocument/2006/relationships/font" Target="fonts/Roboto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99e6afb7d3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99e6afb7d3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99e6afb7d3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99e6afb7d3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99e6afb7d3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99e6afb7d3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99e6afb7d3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99e6afb7d3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99e6afb7d3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99e6afb7d3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99e6afb7d3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99e6afb7d3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99e6afb7d3_1_2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99e6afb7d3_1_2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99e6afb7d3_1_2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99e6afb7d3_1_2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99e6afb7d3_1_2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99e6afb7d3_1_2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99e6afb7d3_1_28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99e6afb7d3_1_28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99e6afb7d3_1_29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99e6afb7d3_1_29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99e6afb7d3_1_2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99e6afb7d3_1_28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99e6afb7d3_1_2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99e6afb7d3_1_2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C">
  <p:cSld name="TITLE_AND_BODY_2_1_1_1">
    <p:spTree>
      <p:nvGrpSpPr>
        <p:cNvPr id="81" name="Shape 81"/>
        <p:cNvGrpSpPr/>
        <p:nvPr/>
      </p:nvGrpSpPr>
      <p:grpSpPr>
        <a:xfrm>
          <a:off x="0" y="0"/>
          <a:ext cx="0" cy="0"/>
          <a:chOff x="0" y="0"/>
          <a:chExt cx="0" cy="0"/>
        </a:xfrm>
      </p:grpSpPr>
      <p:sp>
        <p:nvSpPr>
          <p:cNvPr id="82" name="Google Shape;82;p13"/>
          <p:cNvSpPr txBox="1"/>
          <p:nvPr>
            <p:ph type="title"/>
          </p:nvPr>
        </p:nvSpPr>
        <p:spPr>
          <a:xfrm>
            <a:off x="327575" y="289525"/>
            <a:ext cx="3548100" cy="1093500"/>
          </a:xfrm>
          <a:prstGeom prst="rect">
            <a:avLst/>
          </a:prstGeom>
        </p:spPr>
        <p:txBody>
          <a:bodyPr anchorCtr="0" anchor="t" bIns="0" lIns="0" spcFirstLastPara="1" rIns="0" wrap="square" tIns="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 name="Google Shape;83;p13"/>
          <p:cNvSpPr txBox="1"/>
          <p:nvPr>
            <p:ph idx="1" type="body"/>
          </p:nvPr>
        </p:nvSpPr>
        <p:spPr>
          <a:xfrm>
            <a:off x="327575" y="1565671"/>
            <a:ext cx="3548100" cy="32883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4" name="Google Shape;84;p13"/>
          <p:cNvSpPr/>
          <p:nvPr>
            <p:ph idx="2" type="pic"/>
          </p:nvPr>
        </p:nvSpPr>
        <p:spPr>
          <a:xfrm>
            <a:off x="4298349" y="316350"/>
            <a:ext cx="4510800" cy="4510800"/>
          </a:xfrm>
          <a:prstGeom prst="roundRect">
            <a:avLst>
              <a:gd fmla="val 50000" name="adj"/>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6.jpg"/><Relationship Id="rId5"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4"/>
          <p:cNvSpPr txBox="1"/>
          <p:nvPr>
            <p:ph type="ctrTitle"/>
          </p:nvPr>
        </p:nvSpPr>
        <p:spPr>
          <a:xfrm>
            <a:off x="1169000" y="946650"/>
            <a:ext cx="7080300" cy="83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GB" sz="4700"/>
              <a:t>CROP YIELD </a:t>
            </a:r>
            <a:r>
              <a:rPr b="1" lang="en-GB" sz="4700"/>
              <a:t>PREDICTION</a:t>
            </a:r>
            <a:endParaRPr b="1" sz="4700"/>
          </a:p>
        </p:txBody>
      </p:sp>
      <p:sp>
        <p:nvSpPr>
          <p:cNvPr id="90" name="Google Shape;90;p14"/>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75"/>
              <a:buNone/>
            </a:pPr>
            <a:r>
              <a:rPr lang="en-GB" sz="1925"/>
              <a:t>Group ID:25SM05</a:t>
            </a:r>
            <a:endParaRPr sz="1925"/>
          </a:p>
          <a:p>
            <a:pPr indent="0" lvl="0" marL="0" rtl="0" algn="l">
              <a:lnSpc>
                <a:spcPct val="115000"/>
              </a:lnSpc>
              <a:spcBef>
                <a:spcPts val="0"/>
              </a:spcBef>
              <a:spcAft>
                <a:spcPts val="0"/>
              </a:spcAft>
              <a:buSzPts val="275"/>
              <a:buNone/>
            </a:pPr>
            <a:r>
              <a:rPr lang="en-GB" sz="1925"/>
              <a:t>P.Deepthi 2301CS14</a:t>
            </a:r>
            <a:endParaRPr sz="1925"/>
          </a:p>
          <a:p>
            <a:pPr indent="0" lvl="0" marL="0" rtl="0" algn="l">
              <a:lnSpc>
                <a:spcPct val="115000"/>
              </a:lnSpc>
              <a:spcBef>
                <a:spcPts val="0"/>
              </a:spcBef>
              <a:spcAft>
                <a:spcPts val="0"/>
              </a:spcAft>
              <a:buSzPts val="275"/>
              <a:buNone/>
            </a:pPr>
            <a:r>
              <a:rPr lang="en-GB" sz="1925"/>
              <a:t>A.Manvitha Reddy 2301CS29</a:t>
            </a:r>
            <a:endParaRPr sz="1925"/>
          </a:p>
          <a:p>
            <a:pPr indent="0" lvl="0" marL="0" rtl="0" algn="l">
              <a:lnSpc>
                <a:spcPct val="115000"/>
              </a:lnSpc>
              <a:spcBef>
                <a:spcPts val="0"/>
              </a:spcBef>
              <a:spcAft>
                <a:spcPts val="0"/>
              </a:spcAft>
              <a:buSzPts val="275"/>
              <a:buNone/>
            </a:pPr>
            <a:r>
              <a:rPr lang="en-GB" sz="1925"/>
              <a:t>G.Sai Bhaskari 2301AI19</a:t>
            </a:r>
            <a:endParaRPr sz="1925"/>
          </a:p>
          <a:p>
            <a:pPr indent="0" lvl="0" marL="0" rtl="0" algn="l">
              <a:lnSpc>
                <a:spcPct val="115000"/>
              </a:lnSpc>
              <a:spcBef>
                <a:spcPts val="0"/>
              </a:spcBef>
              <a:spcAft>
                <a:spcPts val="0"/>
              </a:spcAft>
              <a:buSzPts val="275"/>
              <a:buNone/>
            </a:pPr>
            <a:r>
              <a:rPr lang="en-GB" sz="1925"/>
              <a:t>G.Vasavi 2301AI43</a:t>
            </a:r>
            <a:endParaRPr sz="1925"/>
          </a:p>
          <a:p>
            <a:pPr indent="0" lvl="0" marL="0" rtl="0" algn="l">
              <a:lnSpc>
                <a:spcPct val="115000"/>
              </a:lnSpc>
              <a:spcBef>
                <a:spcPts val="0"/>
              </a:spcBef>
              <a:spcAft>
                <a:spcPts val="0"/>
              </a:spcAft>
              <a:buSzPts val="275"/>
              <a:buNone/>
            </a:pPr>
            <a:r>
              <a:t/>
            </a:r>
            <a:endParaRPr sz="1925"/>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5"/>
          <p:cNvSpPr txBox="1"/>
          <p:nvPr>
            <p:ph type="ctrTitle"/>
          </p:nvPr>
        </p:nvSpPr>
        <p:spPr>
          <a:xfrm>
            <a:off x="460950" y="258747"/>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Roles and R</a:t>
            </a:r>
            <a:r>
              <a:rPr lang="en-GB"/>
              <a:t>esponsibilities</a:t>
            </a:r>
            <a:r>
              <a:rPr lang="en-GB"/>
              <a:t> </a:t>
            </a:r>
            <a:endParaRPr/>
          </a:p>
        </p:txBody>
      </p:sp>
      <p:sp>
        <p:nvSpPr>
          <p:cNvPr id="96" name="Google Shape;96;p15"/>
          <p:cNvSpPr txBox="1"/>
          <p:nvPr>
            <p:ph idx="1" type="subTitle"/>
          </p:nvPr>
        </p:nvSpPr>
        <p:spPr>
          <a:xfrm>
            <a:off x="129050" y="258750"/>
            <a:ext cx="6913200" cy="898200"/>
          </a:xfrm>
          <a:prstGeom prst="rect">
            <a:avLst/>
          </a:prstGeom>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p>
        </p:txBody>
      </p:sp>
      <p:graphicFrame>
        <p:nvGraphicFramePr>
          <p:cNvPr id="97" name="Google Shape;97;p15"/>
          <p:cNvGraphicFramePr/>
          <p:nvPr/>
        </p:nvGraphicFramePr>
        <p:xfrm>
          <a:off x="460950" y="1400350"/>
          <a:ext cx="3000000" cy="3000000"/>
        </p:xfrm>
        <a:graphic>
          <a:graphicData uri="http://schemas.openxmlformats.org/drawingml/2006/table">
            <a:tbl>
              <a:tblPr>
                <a:noFill/>
                <a:tableStyleId>{757EC6B8-CC8A-4944-BB13-1CE606FE3346}</a:tableStyleId>
              </a:tblPr>
              <a:tblGrid>
                <a:gridCol w="2800925"/>
                <a:gridCol w="2800925"/>
                <a:gridCol w="2800925"/>
              </a:tblGrid>
              <a:tr h="803350">
                <a:tc>
                  <a:txBody>
                    <a:bodyPr/>
                    <a:lstStyle/>
                    <a:p>
                      <a:pPr indent="0" lvl="0" marL="0" rtl="0" algn="l">
                        <a:spcBef>
                          <a:spcPts val="0"/>
                        </a:spcBef>
                        <a:spcAft>
                          <a:spcPts val="0"/>
                        </a:spcAft>
                        <a:buNone/>
                      </a:pPr>
                      <a:r>
                        <a:rPr lang="en-GB" sz="2100">
                          <a:solidFill>
                            <a:schemeClr val="lt1"/>
                          </a:solidFill>
                        </a:rPr>
                        <a:t>Name &amp;  Roll no</a:t>
                      </a:r>
                      <a:endParaRPr sz="2100">
                        <a:solidFill>
                          <a:schemeClr val="lt1"/>
                        </a:solidFill>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sz="2100">
                          <a:solidFill>
                            <a:schemeClr val="lt1"/>
                          </a:solidFill>
                        </a:rPr>
                        <a:t>          Role</a:t>
                      </a:r>
                      <a:endParaRPr sz="2100">
                        <a:solidFill>
                          <a:schemeClr val="lt1"/>
                        </a:solidFill>
                      </a:endParaRPr>
                    </a:p>
                  </a:txBody>
                  <a:tcPr marT="91425" marB="91425" marR="91425" marL="91425">
                    <a:lnL cap="flat" cmpd="sng" w="38100">
                      <a:solidFill>
                        <a:schemeClr val="lt1"/>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2100">
                          <a:solidFill>
                            <a:schemeClr val="lt1"/>
                          </a:solidFill>
                        </a:rPr>
                        <a:t>Responsibilities</a:t>
                      </a:r>
                      <a:endParaRPr sz="2100">
                        <a:solidFill>
                          <a:schemeClr val="lt1"/>
                        </a:solidFill>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608675">
                <a:tc>
                  <a:txBody>
                    <a:bodyPr/>
                    <a:lstStyle/>
                    <a:p>
                      <a:pPr indent="0" lvl="0" marL="0" rtl="0" algn="l">
                        <a:spcBef>
                          <a:spcPts val="0"/>
                        </a:spcBef>
                        <a:spcAft>
                          <a:spcPts val="0"/>
                        </a:spcAft>
                        <a:buNone/>
                      </a:pPr>
                      <a:r>
                        <a:rPr lang="en-GB">
                          <a:solidFill>
                            <a:schemeClr val="lt1"/>
                          </a:solidFill>
                        </a:rPr>
                        <a:t>Deepthi</a:t>
                      </a:r>
                      <a:endParaRPr>
                        <a:solidFill>
                          <a:schemeClr val="lt1"/>
                        </a:solidFill>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Data  collection &amp; preprocessing</a:t>
                      </a:r>
                      <a:endParaRPr>
                        <a:solidFill>
                          <a:schemeClr val="lt1"/>
                        </a:solidFill>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 Data loading &amp; EDA</a:t>
                      </a:r>
                      <a:endParaRPr>
                        <a:solidFill>
                          <a:schemeClr val="lt1"/>
                        </a:solidFill>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608675">
                <a:tc>
                  <a:txBody>
                    <a:bodyPr/>
                    <a:lstStyle/>
                    <a:p>
                      <a:pPr indent="0" lvl="0" marL="0" rtl="0" algn="l">
                        <a:spcBef>
                          <a:spcPts val="0"/>
                        </a:spcBef>
                        <a:spcAft>
                          <a:spcPts val="0"/>
                        </a:spcAft>
                        <a:buNone/>
                      </a:pPr>
                      <a:r>
                        <a:rPr lang="en-GB">
                          <a:solidFill>
                            <a:schemeClr val="lt1"/>
                          </a:solidFill>
                        </a:rPr>
                        <a:t>Sai Bhaskari Guru </a:t>
                      </a:r>
                      <a:endParaRPr>
                        <a:solidFill>
                          <a:schemeClr val="lt1"/>
                        </a:solidFill>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Feature engineering</a:t>
                      </a:r>
                      <a:endParaRPr>
                        <a:solidFill>
                          <a:schemeClr val="lt1"/>
                        </a:solidFill>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Feature engineering</a:t>
                      </a:r>
                      <a:endParaRPr>
                        <a:solidFill>
                          <a:schemeClr val="lt1"/>
                        </a:solidFill>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608675">
                <a:tc>
                  <a:txBody>
                    <a:bodyPr/>
                    <a:lstStyle/>
                    <a:p>
                      <a:pPr indent="0" lvl="0" marL="0" rtl="0" algn="l">
                        <a:spcBef>
                          <a:spcPts val="0"/>
                        </a:spcBef>
                        <a:spcAft>
                          <a:spcPts val="0"/>
                        </a:spcAft>
                        <a:buNone/>
                      </a:pPr>
                      <a:r>
                        <a:rPr lang="en-GB">
                          <a:solidFill>
                            <a:schemeClr val="lt1"/>
                          </a:solidFill>
                        </a:rPr>
                        <a:t>Manvitha Reddy</a:t>
                      </a:r>
                      <a:endParaRPr>
                        <a:solidFill>
                          <a:schemeClr val="lt1"/>
                        </a:solidFill>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Modeling lead</a:t>
                      </a:r>
                      <a:endParaRPr>
                        <a:solidFill>
                          <a:schemeClr val="lt1"/>
                        </a:solidFill>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Design and train ML models using feature engineering</a:t>
                      </a:r>
                      <a:endParaRPr>
                        <a:solidFill>
                          <a:schemeClr val="lt1"/>
                        </a:solidFill>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608675">
                <a:tc>
                  <a:txBody>
                    <a:bodyPr/>
                    <a:lstStyle/>
                    <a:p>
                      <a:pPr indent="0" lvl="0" marL="0" rtl="0" algn="l">
                        <a:spcBef>
                          <a:spcPts val="0"/>
                        </a:spcBef>
                        <a:spcAft>
                          <a:spcPts val="0"/>
                        </a:spcAft>
                        <a:buNone/>
                      </a:pPr>
                      <a:r>
                        <a:rPr lang="en-GB">
                          <a:solidFill>
                            <a:schemeClr val="lt1"/>
                          </a:solidFill>
                        </a:rPr>
                        <a:t>G Vasavi</a:t>
                      </a:r>
                      <a:r>
                        <a:rPr lang="en-GB"/>
                        <a:t>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Model evaluation</a:t>
                      </a:r>
                      <a:endParaRPr>
                        <a:solidFill>
                          <a:schemeClr val="lt1"/>
                        </a:solidFill>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Optimizes models using hyperparameter tuning and evaluate performances using RMSE,MAE,R^2.</a:t>
                      </a:r>
                      <a:endParaRPr>
                        <a:solidFill>
                          <a:schemeClr val="lt1"/>
                        </a:solidFill>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ctrTitle"/>
          </p:nvPr>
        </p:nvSpPr>
        <p:spPr>
          <a:xfrm>
            <a:off x="367150" y="110547"/>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GB"/>
              <a:t>Introduction:</a:t>
            </a:r>
            <a:endParaRPr b="1"/>
          </a:p>
        </p:txBody>
      </p:sp>
      <p:sp>
        <p:nvSpPr>
          <p:cNvPr id="103" name="Google Shape;103;p16"/>
          <p:cNvSpPr txBox="1"/>
          <p:nvPr>
            <p:ph idx="1" type="subTitle"/>
          </p:nvPr>
        </p:nvSpPr>
        <p:spPr>
          <a:xfrm>
            <a:off x="99025" y="949350"/>
            <a:ext cx="9045000" cy="1781400"/>
          </a:xfrm>
          <a:prstGeom prst="rect">
            <a:avLst/>
          </a:prstGeom>
        </p:spPr>
        <p:txBody>
          <a:bodyPr anchorCtr="0" anchor="t" bIns="91425" lIns="91425" spcFirstLastPara="1" rIns="91425" wrap="square" tIns="91425">
            <a:normAutofit/>
          </a:bodyPr>
          <a:lstStyle/>
          <a:p>
            <a:pPr indent="0" lvl="0" marL="0" rtl="0" algn="l">
              <a:lnSpc>
                <a:spcPct val="120000"/>
              </a:lnSpc>
              <a:spcBef>
                <a:spcPts val="0"/>
              </a:spcBef>
              <a:spcAft>
                <a:spcPts val="0"/>
              </a:spcAft>
              <a:buNone/>
            </a:pPr>
            <a:r>
              <a:rPr b="1" lang="en-GB"/>
              <a:t>Problem statement:</a:t>
            </a:r>
            <a:endParaRPr b="1"/>
          </a:p>
          <a:p>
            <a:pPr indent="0" lvl="0" marL="0" rtl="0" algn="l">
              <a:lnSpc>
                <a:spcPct val="120000"/>
              </a:lnSpc>
              <a:spcBef>
                <a:spcPts val="0"/>
              </a:spcBef>
              <a:spcAft>
                <a:spcPts val="0"/>
              </a:spcAft>
              <a:buNone/>
            </a:pPr>
            <a:r>
              <a:rPr lang="en-GB" sz="1583"/>
              <a:t>Agricultural crop production is influenced by multiple environmental, geographical, and soil-related factors. Predicting crop yield accurately is challenging due to variations in nutrients (N, P, K), rainfall, temperature, pH, area, state, and crop type. This project aims to develop machine learning models that can reliably forecast crop production (in tons) using these features</a:t>
            </a:r>
            <a:endParaRPr sz="1583"/>
          </a:p>
        </p:txBody>
      </p:sp>
      <p:sp>
        <p:nvSpPr>
          <p:cNvPr id="104" name="Google Shape;104;p16"/>
          <p:cNvSpPr txBox="1"/>
          <p:nvPr/>
        </p:nvSpPr>
        <p:spPr>
          <a:xfrm>
            <a:off x="99025" y="2730800"/>
            <a:ext cx="4549500" cy="2228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2100">
                <a:solidFill>
                  <a:srgbClr val="FFFFFF"/>
                </a:solidFill>
              </a:rPr>
              <a:t>Objective</a:t>
            </a:r>
            <a:endParaRPr b="1" sz="2100">
              <a:solidFill>
                <a:srgbClr val="FFFFFF"/>
              </a:solidFill>
            </a:endParaRPr>
          </a:p>
          <a:p>
            <a:pPr indent="0" lvl="0" marL="0" rtl="0" algn="l">
              <a:lnSpc>
                <a:spcPct val="115000"/>
              </a:lnSpc>
              <a:spcBef>
                <a:spcPts val="0"/>
              </a:spcBef>
              <a:spcAft>
                <a:spcPts val="0"/>
              </a:spcAft>
              <a:buNone/>
            </a:pPr>
            <a:r>
              <a:rPr lang="en-GB" sz="1500">
                <a:solidFill>
                  <a:srgbClr val="FFFFFF"/>
                </a:solidFill>
              </a:rPr>
              <a:t>To build and evaluate machine learning models Random Forest and Gradient Boosting to predict agricultural crop production. This includes performing EDA, implementing feature engineering, tuning hyperparameters, and assessing performance using MAE, RMSE, and R²</a:t>
            </a:r>
            <a:endParaRPr sz="1500">
              <a:solidFill>
                <a:srgbClr val="FFFFFF"/>
              </a:solidFill>
            </a:endParaRPr>
          </a:p>
        </p:txBody>
      </p:sp>
      <p:sp>
        <p:nvSpPr>
          <p:cNvPr id="105" name="Google Shape;105;p16"/>
          <p:cNvSpPr txBox="1"/>
          <p:nvPr/>
        </p:nvSpPr>
        <p:spPr>
          <a:xfrm>
            <a:off x="4648525" y="2730800"/>
            <a:ext cx="4408500" cy="2228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2100">
                <a:solidFill>
                  <a:srgbClr val="FFFFFF"/>
                </a:solidFill>
              </a:rPr>
              <a:t>Motivation</a:t>
            </a:r>
            <a:endParaRPr b="1" sz="2100">
              <a:solidFill>
                <a:srgbClr val="FFFFFF"/>
              </a:solidFill>
            </a:endParaRPr>
          </a:p>
          <a:p>
            <a:pPr indent="0" lvl="0" marL="0" rtl="0" algn="l">
              <a:lnSpc>
                <a:spcPct val="115000"/>
              </a:lnSpc>
              <a:spcBef>
                <a:spcPts val="0"/>
              </a:spcBef>
              <a:spcAft>
                <a:spcPts val="0"/>
              </a:spcAft>
              <a:buNone/>
            </a:pPr>
            <a:r>
              <a:rPr lang="en-GB" sz="1500">
                <a:solidFill>
                  <a:srgbClr val="FFFFFF"/>
                </a:solidFill>
              </a:rPr>
              <a:t>Reliable crop yield predictions support food security, r</a:t>
            </a:r>
            <a:r>
              <a:rPr lang="en-GB" sz="1500">
                <a:solidFill>
                  <a:srgbClr val="FFFFFF"/>
                </a:solidFill>
              </a:rPr>
              <a:t>esource optimization, and better economic planning. Machine learning can help farmers and policymakers make informed decisions, reduce risks, and adapt to changing climate conditions</a:t>
            </a:r>
            <a:endParaRPr sz="1500">
              <a:solidFill>
                <a:schemeClr val="dk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ctrTitle"/>
          </p:nvPr>
        </p:nvSpPr>
        <p:spPr>
          <a:xfrm>
            <a:off x="261525" y="143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Literature Review</a:t>
            </a:r>
            <a:endParaRPr/>
          </a:p>
        </p:txBody>
      </p:sp>
      <p:sp>
        <p:nvSpPr>
          <p:cNvPr id="111" name="Google Shape;111;p17"/>
          <p:cNvSpPr txBox="1"/>
          <p:nvPr>
            <p:ph idx="1" type="subTitle"/>
          </p:nvPr>
        </p:nvSpPr>
        <p:spPr>
          <a:xfrm>
            <a:off x="-1684433" y="3310025"/>
            <a:ext cx="1887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p:txBody>
      </p:sp>
      <p:sp>
        <p:nvSpPr>
          <p:cNvPr id="112" name="Google Shape;112;p17"/>
          <p:cNvSpPr txBox="1"/>
          <p:nvPr/>
        </p:nvSpPr>
        <p:spPr>
          <a:xfrm>
            <a:off x="261525" y="86225"/>
            <a:ext cx="79596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chemeClr val="lt1"/>
              </a:solidFill>
              <a:latin typeface="Roboto"/>
              <a:ea typeface="Roboto"/>
              <a:cs typeface="Roboto"/>
              <a:sym typeface="Roboto"/>
            </a:endParaRPr>
          </a:p>
          <a:p>
            <a:pPr indent="0" lvl="0" marL="0" rtl="0" algn="l">
              <a:spcBef>
                <a:spcPts val="0"/>
              </a:spcBef>
              <a:spcAft>
                <a:spcPts val="0"/>
              </a:spcAft>
              <a:buNone/>
            </a:pPr>
            <a:r>
              <a:t/>
            </a:r>
            <a:endParaRPr sz="1500">
              <a:solidFill>
                <a:schemeClr val="lt1"/>
              </a:solidFill>
              <a:latin typeface="Roboto"/>
              <a:ea typeface="Roboto"/>
              <a:cs typeface="Roboto"/>
              <a:sym typeface="Roboto"/>
            </a:endParaRPr>
          </a:p>
          <a:p>
            <a:pPr indent="0" lvl="0" marL="0" rtl="0" algn="l">
              <a:spcBef>
                <a:spcPts val="0"/>
              </a:spcBef>
              <a:spcAft>
                <a:spcPts val="0"/>
              </a:spcAft>
              <a:buNone/>
            </a:pPr>
            <a:r>
              <a:t/>
            </a:r>
            <a:endParaRPr sz="1500">
              <a:solidFill>
                <a:schemeClr val="lt1"/>
              </a:solidFill>
              <a:latin typeface="Roboto"/>
              <a:ea typeface="Roboto"/>
              <a:cs typeface="Roboto"/>
              <a:sym typeface="Roboto"/>
            </a:endParaRPr>
          </a:p>
        </p:txBody>
      </p:sp>
      <p:sp>
        <p:nvSpPr>
          <p:cNvPr id="113" name="Google Shape;113;p17"/>
          <p:cNvSpPr txBox="1"/>
          <p:nvPr/>
        </p:nvSpPr>
        <p:spPr>
          <a:xfrm flipH="1">
            <a:off x="6682875" y="362525"/>
            <a:ext cx="235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14" name="Google Shape;114;p17"/>
          <p:cNvSpPr txBox="1"/>
          <p:nvPr/>
        </p:nvSpPr>
        <p:spPr>
          <a:xfrm>
            <a:off x="392775" y="692200"/>
            <a:ext cx="7959600" cy="4340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GB" sz="1100">
                <a:solidFill>
                  <a:schemeClr val="lt1"/>
                </a:solidFill>
                <a:latin typeface="Roboto"/>
                <a:ea typeface="Roboto"/>
                <a:cs typeface="Roboto"/>
                <a:sym typeface="Roboto"/>
              </a:rPr>
              <a:t>Backpropagation in Neural Networks (Rumelhart, Hinton &amp; Williams, 1986):</a:t>
            </a:r>
            <a:endParaRPr sz="1100">
              <a:solidFill>
                <a:schemeClr val="lt1"/>
              </a:solidFill>
              <a:latin typeface="Roboto"/>
              <a:ea typeface="Roboto"/>
              <a:cs typeface="Roboto"/>
              <a:sym typeface="Roboto"/>
            </a:endParaRPr>
          </a:p>
          <a:p>
            <a:pPr indent="0" lvl="0" marL="0" rtl="0" algn="l">
              <a:spcBef>
                <a:spcPts val="0"/>
              </a:spcBef>
              <a:spcAft>
                <a:spcPts val="0"/>
              </a:spcAft>
              <a:buNone/>
            </a:pPr>
            <a:r>
              <a:rPr lang="en-GB" sz="1100">
                <a:solidFill>
                  <a:schemeClr val="lt1"/>
                </a:solidFill>
                <a:latin typeface="Roboto"/>
                <a:ea typeface="Roboto"/>
                <a:cs typeface="Roboto"/>
                <a:sym typeface="Roboto"/>
              </a:rPr>
              <a:t>Introduced the backpropagation algorithm, enabling multi-layer neural networks to learn from data — forming the foundation of modern ANN-based crop-yield prediction models.</a:t>
            </a:r>
            <a:endParaRPr sz="1100">
              <a:solidFill>
                <a:schemeClr val="lt1"/>
              </a:solidFill>
              <a:latin typeface="Roboto"/>
              <a:ea typeface="Roboto"/>
              <a:cs typeface="Roboto"/>
              <a:sym typeface="Roboto"/>
            </a:endParaRPr>
          </a:p>
          <a:p>
            <a:pPr indent="0" lvl="0" marL="0" rtl="0" algn="l">
              <a:spcBef>
                <a:spcPts val="0"/>
              </a:spcBef>
              <a:spcAft>
                <a:spcPts val="0"/>
              </a:spcAft>
              <a:buNone/>
            </a:pPr>
            <a:r>
              <a:t/>
            </a:r>
            <a:endParaRPr sz="1100">
              <a:solidFill>
                <a:schemeClr val="lt1"/>
              </a:solidFill>
              <a:latin typeface="Roboto"/>
              <a:ea typeface="Roboto"/>
              <a:cs typeface="Roboto"/>
              <a:sym typeface="Roboto"/>
            </a:endParaRPr>
          </a:p>
          <a:p>
            <a:pPr indent="0" lvl="0" marL="0" rtl="0" algn="l">
              <a:spcBef>
                <a:spcPts val="0"/>
              </a:spcBef>
              <a:spcAft>
                <a:spcPts val="0"/>
              </a:spcAft>
              <a:buNone/>
            </a:pPr>
            <a:r>
              <a:rPr lang="en-GB" sz="1100">
                <a:solidFill>
                  <a:schemeClr val="lt1"/>
                </a:solidFill>
                <a:latin typeface="Roboto"/>
                <a:ea typeface="Roboto"/>
                <a:cs typeface="Roboto"/>
                <a:sym typeface="Roboto"/>
              </a:rPr>
              <a:t>Crop Yield Prediction using RF, SVM, and LR (Uddin et al., 2021):</a:t>
            </a:r>
            <a:endParaRPr sz="1100">
              <a:solidFill>
                <a:schemeClr val="lt1"/>
              </a:solidFill>
              <a:latin typeface="Roboto"/>
              <a:ea typeface="Roboto"/>
              <a:cs typeface="Roboto"/>
              <a:sym typeface="Roboto"/>
            </a:endParaRPr>
          </a:p>
          <a:p>
            <a:pPr indent="0" lvl="0" marL="0" rtl="0" algn="l">
              <a:spcBef>
                <a:spcPts val="0"/>
              </a:spcBef>
              <a:spcAft>
                <a:spcPts val="0"/>
              </a:spcAft>
              <a:buNone/>
            </a:pPr>
            <a:r>
              <a:rPr lang="en-GB" sz="1100">
                <a:solidFill>
                  <a:schemeClr val="lt1"/>
                </a:solidFill>
                <a:latin typeface="Roboto"/>
                <a:ea typeface="Roboto"/>
                <a:cs typeface="Roboto"/>
                <a:sym typeface="Roboto"/>
              </a:rPr>
              <a:t>Applied machine-learning models using weather and soil attributes (rainfall, temperature, humidity, soil nutrients), showing that weather features play a major role in crop yield forecasting.</a:t>
            </a:r>
            <a:endParaRPr sz="1100">
              <a:solidFill>
                <a:schemeClr val="lt1"/>
              </a:solidFill>
              <a:latin typeface="Roboto"/>
              <a:ea typeface="Roboto"/>
              <a:cs typeface="Roboto"/>
              <a:sym typeface="Roboto"/>
            </a:endParaRPr>
          </a:p>
          <a:p>
            <a:pPr indent="0" lvl="0" marL="0" rtl="0" algn="l">
              <a:spcBef>
                <a:spcPts val="0"/>
              </a:spcBef>
              <a:spcAft>
                <a:spcPts val="0"/>
              </a:spcAft>
              <a:buNone/>
            </a:pPr>
            <a:r>
              <a:t/>
            </a:r>
            <a:endParaRPr sz="1100">
              <a:solidFill>
                <a:schemeClr val="lt1"/>
              </a:solidFill>
              <a:latin typeface="Roboto"/>
              <a:ea typeface="Roboto"/>
              <a:cs typeface="Roboto"/>
              <a:sym typeface="Roboto"/>
            </a:endParaRPr>
          </a:p>
          <a:p>
            <a:pPr indent="0" lvl="0" marL="0" rtl="0" algn="l">
              <a:spcBef>
                <a:spcPts val="0"/>
              </a:spcBef>
              <a:spcAft>
                <a:spcPts val="0"/>
              </a:spcAft>
              <a:buNone/>
            </a:pPr>
            <a:r>
              <a:rPr lang="en-GB" sz="1100">
                <a:solidFill>
                  <a:schemeClr val="lt1"/>
                </a:solidFill>
                <a:latin typeface="Roboto"/>
                <a:ea typeface="Roboto"/>
                <a:cs typeface="Roboto"/>
                <a:sym typeface="Roboto"/>
              </a:rPr>
              <a:t>Hybrid Feature-based Yield Prediction (Mishra et al., 2018):</a:t>
            </a:r>
            <a:endParaRPr sz="1100">
              <a:solidFill>
                <a:schemeClr val="lt1"/>
              </a:solidFill>
              <a:latin typeface="Roboto"/>
              <a:ea typeface="Roboto"/>
              <a:cs typeface="Roboto"/>
              <a:sym typeface="Roboto"/>
            </a:endParaRPr>
          </a:p>
          <a:p>
            <a:pPr indent="0" lvl="0" marL="0" rtl="0" algn="l">
              <a:spcBef>
                <a:spcPts val="0"/>
              </a:spcBef>
              <a:spcAft>
                <a:spcPts val="0"/>
              </a:spcAft>
              <a:buNone/>
            </a:pPr>
            <a:r>
              <a:rPr lang="en-GB" sz="1100">
                <a:solidFill>
                  <a:schemeClr val="lt1"/>
                </a:solidFill>
                <a:latin typeface="Roboto"/>
                <a:ea typeface="Roboto"/>
                <a:cs typeface="Roboto"/>
                <a:sym typeface="Roboto"/>
              </a:rPr>
              <a:t>Reviewed ML techniques (LR, RF, ANN) and concluded that combining soil + weather attributes yields the highest accuracy compared to using either feature category alone.</a:t>
            </a:r>
            <a:endParaRPr sz="1100">
              <a:solidFill>
                <a:schemeClr val="lt1"/>
              </a:solidFill>
              <a:latin typeface="Roboto"/>
              <a:ea typeface="Roboto"/>
              <a:cs typeface="Roboto"/>
              <a:sym typeface="Roboto"/>
            </a:endParaRPr>
          </a:p>
          <a:p>
            <a:pPr indent="0" lvl="0" marL="0" rtl="0" algn="l">
              <a:spcBef>
                <a:spcPts val="0"/>
              </a:spcBef>
              <a:spcAft>
                <a:spcPts val="0"/>
              </a:spcAft>
              <a:buNone/>
            </a:pPr>
            <a:r>
              <a:t/>
            </a:r>
            <a:endParaRPr sz="1100">
              <a:solidFill>
                <a:schemeClr val="lt1"/>
              </a:solidFill>
              <a:latin typeface="Roboto"/>
              <a:ea typeface="Roboto"/>
              <a:cs typeface="Roboto"/>
              <a:sym typeface="Roboto"/>
            </a:endParaRPr>
          </a:p>
          <a:p>
            <a:pPr indent="0" lvl="0" marL="0" rtl="0" algn="l">
              <a:spcBef>
                <a:spcPts val="0"/>
              </a:spcBef>
              <a:spcAft>
                <a:spcPts val="0"/>
              </a:spcAft>
              <a:buNone/>
            </a:pPr>
            <a:r>
              <a:rPr lang="en-GB" sz="1100">
                <a:solidFill>
                  <a:schemeClr val="lt1"/>
                </a:solidFill>
                <a:latin typeface="Roboto"/>
                <a:ea typeface="Roboto"/>
                <a:cs typeface="Roboto"/>
                <a:sym typeface="Roboto"/>
              </a:rPr>
              <a:t>Research Gaps</a:t>
            </a:r>
            <a:endParaRPr sz="1100">
              <a:solidFill>
                <a:schemeClr val="lt1"/>
              </a:solidFill>
              <a:latin typeface="Roboto"/>
              <a:ea typeface="Roboto"/>
              <a:cs typeface="Roboto"/>
              <a:sym typeface="Roboto"/>
            </a:endParaRPr>
          </a:p>
          <a:p>
            <a:pPr indent="0" lvl="0" marL="0" rtl="0" algn="l">
              <a:spcBef>
                <a:spcPts val="0"/>
              </a:spcBef>
              <a:spcAft>
                <a:spcPts val="0"/>
              </a:spcAft>
              <a:buNone/>
            </a:pPr>
            <a:r>
              <a:t/>
            </a:r>
            <a:endParaRPr sz="1100">
              <a:solidFill>
                <a:schemeClr val="lt1"/>
              </a:solidFill>
              <a:latin typeface="Roboto"/>
              <a:ea typeface="Roboto"/>
              <a:cs typeface="Roboto"/>
              <a:sym typeface="Roboto"/>
            </a:endParaRPr>
          </a:p>
          <a:p>
            <a:pPr indent="0" lvl="0" marL="0" rtl="0" algn="l">
              <a:spcBef>
                <a:spcPts val="0"/>
              </a:spcBef>
              <a:spcAft>
                <a:spcPts val="0"/>
              </a:spcAft>
              <a:buNone/>
            </a:pPr>
            <a:r>
              <a:rPr lang="en-GB" sz="1100">
                <a:solidFill>
                  <a:schemeClr val="lt1"/>
                </a:solidFill>
                <a:latin typeface="Roboto"/>
                <a:ea typeface="Roboto"/>
                <a:cs typeface="Roboto"/>
                <a:sym typeface="Roboto"/>
              </a:rPr>
              <a:t>Limited focus on non-linear ensemble + deep learning hybrid approaches for agricultural prediction.</a:t>
            </a:r>
            <a:endParaRPr sz="1100">
              <a:solidFill>
                <a:schemeClr val="lt1"/>
              </a:solidFill>
              <a:latin typeface="Roboto"/>
              <a:ea typeface="Roboto"/>
              <a:cs typeface="Roboto"/>
              <a:sym typeface="Roboto"/>
            </a:endParaRPr>
          </a:p>
          <a:p>
            <a:pPr indent="0" lvl="0" marL="0" rtl="0" algn="l">
              <a:spcBef>
                <a:spcPts val="0"/>
              </a:spcBef>
              <a:spcAft>
                <a:spcPts val="0"/>
              </a:spcAft>
              <a:buNone/>
            </a:pPr>
            <a:r>
              <a:t/>
            </a:r>
            <a:endParaRPr sz="1100">
              <a:solidFill>
                <a:schemeClr val="lt1"/>
              </a:solidFill>
              <a:latin typeface="Roboto"/>
              <a:ea typeface="Roboto"/>
              <a:cs typeface="Roboto"/>
              <a:sym typeface="Roboto"/>
            </a:endParaRPr>
          </a:p>
          <a:p>
            <a:pPr indent="0" lvl="0" marL="0" rtl="0" algn="l">
              <a:spcBef>
                <a:spcPts val="0"/>
              </a:spcBef>
              <a:spcAft>
                <a:spcPts val="0"/>
              </a:spcAft>
              <a:buNone/>
            </a:pPr>
            <a:r>
              <a:rPr lang="en-GB" sz="1100">
                <a:solidFill>
                  <a:schemeClr val="lt1"/>
                </a:solidFill>
                <a:latin typeface="Roboto"/>
                <a:ea typeface="Roboto"/>
                <a:cs typeface="Roboto"/>
                <a:sym typeface="Roboto"/>
              </a:rPr>
              <a:t>Lack of systematic hyperparameter optimization in most previous ML crop-yield models.</a:t>
            </a:r>
            <a:endParaRPr sz="1100">
              <a:solidFill>
                <a:schemeClr val="lt1"/>
              </a:solidFill>
              <a:latin typeface="Roboto"/>
              <a:ea typeface="Roboto"/>
              <a:cs typeface="Roboto"/>
              <a:sym typeface="Roboto"/>
            </a:endParaRPr>
          </a:p>
          <a:p>
            <a:pPr indent="0" lvl="0" marL="0" rtl="0" algn="l">
              <a:spcBef>
                <a:spcPts val="0"/>
              </a:spcBef>
              <a:spcAft>
                <a:spcPts val="0"/>
              </a:spcAft>
              <a:buNone/>
            </a:pPr>
            <a:r>
              <a:t/>
            </a:r>
            <a:endParaRPr sz="1100">
              <a:solidFill>
                <a:schemeClr val="lt1"/>
              </a:solidFill>
              <a:latin typeface="Roboto"/>
              <a:ea typeface="Roboto"/>
              <a:cs typeface="Roboto"/>
              <a:sym typeface="Roboto"/>
            </a:endParaRPr>
          </a:p>
          <a:p>
            <a:pPr indent="0" lvl="0" marL="0" rtl="0" algn="l">
              <a:spcBef>
                <a:spcPts val="0"/>
              </a:spcBef>
              <a:spcAft>
                <a:spcPts val="0"/>
              </a:spcAft>
              <a:buNone/>
            </a:pPr>
            <a:r>
              <a:rPr lang="en-GB" sz="1100">
                <a:solidFill>
                  <a:schemeClr val="lt1"/>
                </a:solidFill>
                <a:latin typeface="Roboto"/>
                <a:ea typeface="Roboto"/>
                <a:cs typeface="Roboto"/>
                <a:sym typeface="Roboto"/>
              </a:rPr>
              <a:t>Minimal usage of advanced feature engineering and interaction features (soil × weather).</a:t>
            </a:r>
            <a:endParaRPr sz="1100">
              <a:solidFill>
                <a:schemeClr val="lt1"/>
              </a:solidFill>
              <a:latin typeface="Roboto"/>
              <a:ea typeface="Roboto"/>
              <a:cs typeface="Roboto"/>
              <a:sym typeface="Roboto"/>
            </a:endParaRPr>
          </a:p>
          <a:p>
            <a:pPr indent="0" lvl="0" marL="0" rtl="0" algn="l">
              <a:spcBef>
                <a:spcPts val="0"/>
              </a:spcBef>
              <a:spcAft>
                <a:spcPts val="0"/>
              </a:spcAft>
              <a:buNone/>
            </a:pPr>
            <a:r>
              <a:t/>
            </a:r>
            <a:endParaRPr sz="1100">
              <a:solidFill>
                <a:schemeClr val="lt1"/>
              </a:solidFill>
              <a:latin typeface="Roboto"/>
              <a:ea typeface="Roboto"/>
              <a:cs typeface="Roboto"/>
              <a:sym typeface="Roboto"/>
            </a:endParaRPr>
          </a:p>
          <a:p>
            <a:pPr indent="0" lvl="0" marL="0" rtl="0" algn="l">
              <a:spcBef>
                <a:spcPts val="0"/>
              </a:spcBef>
              <a:spcAft>
                <a:spcPts val="0"/>
              </a:spcAft>
              <a:buNone/>
            </a:pPr>
            <a:r>
              <a:rPr lang="en-GB" sz="1100">
                <a:solidFill>
                  <a:schemeClr val="lt1"/>
                </a:solidFill>
                <a:latin typeface="Roboto"/>
                <a:ea typeface="Roboto"/>
                <a:cs typeface="Roboto"/>
                <a:sym typeface="Roboto"/>
              </a:rPr>
              <a:t>Real-world deployment challenges remain due to generalization issues across states, crops, and seasons.</a:t>
            </a:r>
            <a:endParaRPr sz="1100">
              <a:solidFill>
                <a:schemeClr val="lt1"/>
              </a:solidFill>
              <a:latin typeface="Roboto"/>
              <a:ea typeface="Roboto"/>
              <a:cs typeface="Roboto"/>
              <a:sym typeface="Roboto"/>
            </a:endParaRPr>
          </a:p>
          <a:p>
            <a:pPr indent="0" lvl="0" marL="0" rtl="0" algn="l">
              <a:spcBef>
                <a:spcPts val="0"/>
              </a:spcBef>
              <a:spcAft>
                <a:spcPts val="0"/>
              </a:spcAft>
              <a:buNone/>
            </a:pPr>
            <a:r>
              <a:t/>
            </a:r>
            <a:endParaRPr sz="900">
              <a:solidFill>
                <a:schemeClr val="lt1"/>
              </a:solidFill>
              <a:latin typeface="Roboto"/>
              <a:ea typeface="Roboto"/>
              <a:cs typeface="Roboto"/>
              <a:sym typeface="Roboto"/>
            </a:endParaRPr>
          </a:p>
          <a:p>
            <a:pPr indent="0" lvl="0" marL="0" rtl="0" algn="l">
              <a:spcBef>
                <a:spcPts val="0"/>
              </a:spcBef>
              <a:spcAft>
                <a:spcPts val="0"/>
              </a:spcAft>
              <a:buNone/>
            </a:pPr>
            <a:r>
              <a:t/>
            </a:r>
            <a:endParaRPr sz="1500">
              <a:solidFill>
                <a:schemeClr val="lt1"/>
              </a:solidFill>
              <a:latin typeface="Roboto"/>
              <a:ea typeface="Roboto"/>
              <a:cs typeface="Roboto"/>
              <a:sym typeface="Roboto"/>
            </a:endParaRPr>
          </a:p>
          <a:p>
            <a:pPr indent="0" lvl="0" marL="0" rtl="0" algn="l">
              <a:spcBef>
                <a:spcPts val="0"/>
              </a:spcBef>
              <a:spcAft>
                <a:spcPts val="0"/>
              </a:spcAft>
              <a:buNone/>
            </a:pPr>
            <a:r>
              <a:t/>
            </a:r>
            <a:endParaRPr sz="1500">
              <a:solidFill>
                <a:schemeClr val="lt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300975" y="312750"/>
            <a:ext cx="6986400" cy="422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b="1" lang="en-GB"/>
              <a:t>Methodology</a:t>
            </a:r>
            <a:endParaRPr b="1"/>
          </a:p>
        </p:txBody>
      </p:sp>
      <p:grpSp>
        <p:nvGrpSpPr>
          <p:cNvPr id="120" name="Google Shape;120;p18"/>
          <p:cNvGrpSpPr/>
          <p:nvPr/>
        </p:nvGrpSpPr>
        <p:grpSpPr>
          <a:xfrm>
            <a:off x="599455" y="884252"/>
            <a:ext cx="7380855" cy="731701"/>
            <a:chOff x="630730" y="880977"/>
            <a:chExt cx="7380855" cy="731701"/>
          </a:xfrm>
        </p:grpSpPr>
        <p:sp>
          <p:nvSpPr>
            <p:cNvPr id="121" name="Google Shape;121;p18"/>
            <p:cNvSpPr txBox="1"/>
            <p:nvPr/>
          </p:nvSpPr>
          <p:spPr>
            <a:xfrm>
              <a:off x="630730" y="931175"/>
              <a:ext cx="20844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GB" sz="2000">
                  <a:solidFill>
                    <a:schemeClr val="lt1"/>
                  </a:solidFill>
                  <a:latin typeface="Roboto Medium"/>
                  <a:ea typeface="Roboto Medium"/>
                  <a:cs typeface="Roboto Medium"/>
                  <a:sym typeface="Roboto Medium"/>
                </a:rPr>
                <a:t>Dataset overview</a:t>
              </a:r>
              <a:endParaRPr sz="2000">
                <a:solidFill>
                  <a:schemeClr val="lt1"/>
                </a:solidFill>
                <a:latin typeface="Roboto Medium"/>
                <a:ea typeface="Roboto Medium"/>
                <a:cs typeface="Roboto Medium"/>
                <a:sym typeface="Roboto Medium"/>
              </a:endParaRPr>
            </a:p>
          </p:txBody>
        </p:sp>
        <p:sp>
          <p:nvSpPr>
            <p:cNvPr id="122" name="Google Shape;122;p18"/>
            <p:cNvSpPr/>
            <p:nvPr/>
          </p:nvSpPr>
          <p:spPr>
            <a:xfrm>
              <a:off x="2789785" y="880977"/>
              <a:ext cx="5221800" cy="731700"/>
            </a:xfrm>
            <a:prstGeom prst="rect">
              <a:avLst/>
            </a:prstGeom>
            <a:solidFill>
              <a:srgbClr val="0942A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18"/>
            <p:cNvSpPr txBox="1"/>
            <p:nvPr/>
          </p:nvSpPr>
          <p:spPr>
            <a:xfrm>
              <a:off x="2915539" y="1037278"/>
              <a:ext cx="4765800" cy="5754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lang="en-GB" sz="1300">
                  <a:solidFill>
                    <a:srgbClr val="FFFFFF"/>
                  </a:solidFill>
                  <a:latin typeface="Roboto"/>
                  <a:ea typeface="Roboto"/>
                  <a:cs typeface="Roboto"/>
                  <a:sym typeface="Roboto"/>
                </a:rPr>
                <a:t>State_Name,Crop_Type,Crop,N,P,K,pH,rainfall,temperature,</a:t>
              </a:r>
              <a:endParaRPr sz="1300">
                <a:solidFill>
                  <a:srgbClr val="FFFFFF"/>
                </a:solidFill>
                <a:latin typeface="Roboto"/>
                <a:ea typeface="Roboto"/>
                <a:cs typeface="Roboto"/>
                <a:sym typeface="Roboto"/>
              </a:endParaRPr>
            </a:p>
            <a:p>
              <a:pPr indent="0" lvl="0" marL="0" rtl="0" algn="l">
                <a:lnSpc>
                  <a:spcPct val="115000"/>
                </a:lnSpc>
                <a:spcBef>
                  <a:spcPts val="0"/>
                </a:spcBef>
                <a:spcAft>
                  <a:spcPts val="0"/>
                </a:spcAft>
                <a:buNone/>
              </a:pPr>
              <a:r>
                <a:rPr lang="en-GB" sz="1300">
                  <a:solidFill>
                    <a:srgbClr val="FFFFFF"/>
                  </a:solidFill>
                  <a:latin typeface="Roboto"/>
                  <a:ea typeface="Roboto"/>
                  <a:cs typeface="Roboto"/>
                  <a:sym typeface="Roboto"/>
                </a:rPr>
                <a:t>Area_in_hectares,Production_in_tons,Yield_ton_per_hec</a:t>
              </a:r>
              <a:endParaRPr sz="1300">
                <a:solidFill>
                  <a:srgbClr val="FFFFFF"/>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rgbClr val="FFFFFF"/>
                </a:solidFill>
                <a:latin typeface="Roboto"/>
                <a:ea typeface="Roboto"/>
                <a:cs typeface="Roboto"/>
                <a:sym typeface="Roboto"/>
              </a:endParaRPr>
            </a:p>
          </p:txBody>
        </p:sp>
      </p:grpSp>
      <p:grpSp>
        <p:nvGrpSpPr>
          <p:cNvPr id="124" name="Google Shape;124;p18"/>
          <p:cNvGrpSpPr/>
          <p:nvPr/>
        </p:nvGrpSpPr>
        <p:grpSpPr>
          <a:xfrm>
            <a:off x="471830" y="1941950"/>
            <a:ext cx="7205908" cy="731700"/>
            <a:chOff x="444180" y="1765338"/>
            <a:chExt cx="7205908" cy="731700"/>
          </a:xfrm>
        </p:grpSpPr>
        <p:sp>
          <p:nvSpPr>
            <p:cNvPr id="125" name="Google Shape;125;p18"/>
            <p:cNvSpPr txBox="1"/>
            <p:nvPr/>
          </p:nvSpPr>
          <p:spPr>
            <a:xfrm>
              <a:off x="444180" y="1815550"/>
              <a:ext cx="22710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GB" sz="2000">
                  <a:solidFill>
                    <a:schemeClr val="lt1"/>
                  </a:solidFill>
                  <a:latin typeface="Roboto Medium"/>
                  <a:ea typeface="Roboto Medium"/>
                  <a:cs typeface="Roboto Medium"/>
                  <a:sym typeface="Roboto Medium"/>
                </a:rPr>
                <a:t>New features</a:t>
              </a:r>
              <a:endParaRPr sz="2000">
                <a:solidFill>
                  <a:schemeClr val="lt1"/>
                </a:solidFill>
                <a:latin typeface="Roboto Medium"/>
                <a:ea typeface="Roboto Medium"/>
                <a:cs typeface="Roboto Medium"/>
                <a:sym typeface="Roboto Medium"/>
              </a:endParaRPr>
            </a:p>
          </p:txBody>
        </p:sp>
        <p:sp>
          <p:nvSpPr>
            <p:cNvPr id="126" name="Google Shape;126;p18"/>
            <p:cNvSpPr/>
            <p:nvPr/>
          </p:nvSpPr>
          <p:spPr>
            <a:xfrm>
              <a:off x="2789787" y="1765338"/>
              <a:ext cx="4860300" cy="731700"/>
            </a:xfrm>
            <a:prstGeom prst="rect">
              <a:avLst/>
            </a:prstGeom>
            <a:solidFill>
              <a:srgbClr val="0C57D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18"/>
            <p:cNvSpPr txBox="1"/>
            <p:nvPr/>
          </p:nvSpPr>
          <p:spPr>
            <a:xfrm>
              <a:off x="2914287" y="1878108"/>
              <a:ext cx="4373100" cy="330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t/>
              </a:r>
              <a:endParaRPr sz="1000">
                <a:solidFill>
                  <a:srgbClr val="FFFFFF"/>
                </a:solidFill>
              </a:endParaRPr>
            </a:p>
            <a:p>
              <a:pPr indent="0" lvl="0" marL="0" rtl="0" algn="l">
                <a:lnSpc>
                  <a:spcPct val="115000"/>
                </a:lnSpc>
                <a:spcBef>
                  <a:spcPts val="0"/>
                </a:spcBef>
                <a:spcAft>
                  <a:spcPts val="0"/>
                </a:spcAft>
                <a:buNone/>
              </a:pPr>
              <a:r>
                <a:rPr lang="en-GB" sz="1300">
                  <a:solidFill>
                    <a:srgbClr val="FFFFFF"/>
                  </a:solidFill>
                </a:rPr>
                <a:t>Created a new 10 Nutrient ratios &amp; balances,9 Climate interactions,5 Polynomial features,3 Stress indicators and 3 Area interactions</a:t>
              </a:r>
              <a:endParaRPr sz="1300">
                <a:solidFill>
                  <a:srgbClr val="FFFFFF"/>
                </a:solidFill>
                <a:latin typeface="Roboto"/>
                <a:ea typeface="Roboto"/>
                <a:cs typeface="Roboto"/>
                <a:sym typeface="Roboto"/>
              </a:endParaRPr>
            </a:p>
          </p:txBody>
        </p:sp>
      </p:grpSp>
      <p:sp>
        <p:nvSpPr>
          <p:cNvPr id="128" name="Google Shape;128;p18"/>
          <p:cNvSpPr txBox="1"/>
          <p:nvPr/>
        </p:nvSpPr>
        <p:spPr>
          <a:xfrm>
            <a:off x="69125" y="2875225"/>
            <a:ext cx="2645400" cy="706800"/>
          </a:xfrm>
          <a:prstGeom prst="rect">
            <a:avLst/>
          </a:prstGeom>
          <a:noFill/>
          <a:ln>
            <a:noFill/>
          </a:ln>
        </p:spPr>
        <p:txBody>
          <a:bodyPr anchorCtr="0" anchor="ctr" bIns="45700" lIns="91425" spcFirstLastPara="1" rIns="91425" wrap="square" tIns="45700">
            <a:noAutofit/>
          </a:bodyPr>
          <a:lstStyle/>
          <a:p>
            <a:pPr indent="0" lvl="0" marL="457200" rtl="0" algn="l">
              <a:lnSpc>
                <a:spcPct val="90000"/>
              </a:lnSpc>
              <a:spcBef>
                <a:spcPts val="0"/>
              </a:spcBef>
              <a:spcAft>
                <a:spcPts val="0"/>
              </a:spcAft>
              <a:buNone/>
            </a:pPr>
            <a:r>
              <a:rPr lang="en-GB" sz="2000">
                <a:solidFill>
                  <a:schemeClr val="lt1"/>
                </a:solidFill>
                <a:latin typeface="Roboto Medium"/>
                <a:ea typeface="Roboto Medium"/>
                <a:cs typeface="Roboto Medium"/>
                <a:sym typeface="Roboto Medium"/>
              </a:rPr>
              <a:t>                           </a:t>
            </a:r>
            <a:r>
              <a:rPr lang="en-GB" sz="2000">
                <a:solidFill>
                  <a:schemeClr val="lt1"/>
                </a:solidFill>
                <a:latin typeface="Roboto Medium"/>
                <a:ea typeface="Roboto Medium"/>
                <a:cs typeface="Roboto Medium"/>
                <a:sym typeface="Roboto Medium"/>
              </a:rPr>
              <a:t>Feature</a:t>
            </a:r>
            <a:r>
              <a:rPr lang="en-GB" sz="2000">
                <a:solidFill>
                  <a:schemeClr val="lt1"/>
                </a:solidFill>
                <a:latin typeface="Roboto Medium"/>
                <a:ea typeface="Roboto Medium"/>
                <a:cs typeface="Roboto Medium"/>
                <a:sym typeface="Roboto Medium"/>
              </a:rPr>
              <a:t> transformation and  scaling</a:t>
            </a:r>
            <a:endParaRPr sz="2000">
              <a:solidFill>
                <a:schemeClr val="lt1"/>
              </a:solidFill>
              <a:latin typeface="Roboto Medium"/>
              <a:ea typeface="Roboto Medium"/>
              <a:cs typeface="Roboto Medium"/>
              <a:sym typeface="Roboto Medium"/>
            </a:endParaRPr>
          </a:p>
        </p:txBody>
      </p:sp>
      <p:sp>
        <p:nvSpPr>
          <p:cNvPr id="129" name="Google Shape;129;p18"/>
          <p:cNvSpPr/>
          <p:nvPr/>
        </p:nvSpPr>
        <p:spPr>
          <a:xfrm>
            <a:off x="2932887" y="2999663"/>
            <a:ext cx="4136100" cy="731700"/>
          </a:xfrm>
          <a:prstGeom prst="rect">
            <a:avLst/>
          </a:prstGeom>
          <a:solidFill>
            <a:srgbClr val="0E63F0"/>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solidFill>
                  <a:schemeClr val="lt1"/>
                </a:solidFill>
              </a:rPr>
              <a:t>Transformed skewed features by using power transformation.Applied log1p </a:t>
            </a:r>
            <a:r>
              <a:rPr lang="en-GB">
                <a:solidFill>
                  <a:schemeClr val="lt1"/>
                </a:solidFill>
              </a:rPr>
              <a:t>transformation</a:t>
            </a:r>
            <a:r>
              <a:rPr lang="en-GB">
                <a:solidFill>
                  <a:schemeClr val="lt1"/>
                </a:solidFill>
              </a:rPr>
              <a:t> for target variable feature.</a:t>
            </a:r>
            <a:endParaRPr>
              <a:solidFill>
                <a:schemeClr val="lt1"/>
              </a:solidFill>
            </a:endParaRPr>
          </a:p>
        </p:txBody>
      </p:sp>
      <p:sp>
        <p:nvSpPr>
          <p:cNvPr id="130" name="Google Shape;130;p18"/>
          <p:cNvSpPr txBox="1"/>
          <p:nvPr/>
        </p:nvSpPr>
        <p:spPr>
          <a:xfrm>
            <a:off x="3001988" y="3400766"/>
            <a:ext cx="3849900" cy="330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t/>
            </a:r>
            <a:endParaRPr sz="1200">
              <a:solidFill>
                <a:srgbClr val="FFFFFF"/>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9"/>
          <p:cNvSpPr txBox="1"/>
          <p:nvPr>
            <p:ph type="ctrTitle"/>
          </p:nvPr>
        </p:nvSpPr>
        <p:spPr>
          <a:xfrm>
            <a:off x="460950" y="13367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GB"/>
              <a:t>Flow Chart</a:t>
            </a:r>
            <a:endParaRPr b="1"/>
          </a:p>
        </p:txBody>
      </p:sp>
      <p:sp>
        <p:nvSpPr>
          <p:cNvPr id="136" name="Google Shape;136;p19"/>
          <p:cNvSpPr txBox="1"/>
          <p:nvPr>
            <p:ph idx="1" type="subTitle"/>
          </p:nvPr>
        </p:nvSpPr>
        <p:spPr>
          <a:xfrm>
            <a:off x="257713" y="4710588"/>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p:txBody>
      </p:sp>
      <p:grpSp>
        <p:nvGrpSpPr>
          <p:cNvPr id="137" name="Google Shape;137;p19"/>
          <p:cNvGrpSpPr/>
          <p:nvPr/>
        </p:nvGrpSpPr>
        <p:grpSpPr>
          <a:xfrm>
            <a:off x="2162360" y="1695421"/>
            <a:ext cx="1803903" cy="1778104"/>
            <a:chOff x="2283710" y="1695421"/>
            <a:chExt cx="1803903" cy="1778104"/>
          </a:xfrm>
        </p:grpSpPr>
        <p:cxnSp>
          <p:nvCxnSpPr>
            <p:cNvPr id="138" name="Google Shape;138;p19"/>
            <p:cNvCxnSpPr/>
            <p:nvPr/>
          </p:nvCxnSpPr>
          <p:spPr>
            <a:xfrm>
              <a:off x="3151986" y="1695421"/>
              <a:ext cx="718500" cy="741900"/>
            </a:xfrm>
            <a:prstGeom prst="straightConnector1">
              <a:avLst/>
            </a:prstGeom>
            <a:noFill/>
            <a:ln cap="flat" cmpd="sng" w="9525">
              <a:solidFill>
                <a:srgbClr val="0D5CDF"/>
              </a:solidFill>
              <a:prstDash val="solid"/>
              <a:round/>
              <a:headEnd len="sm" w="sm" type="none"/>
              <a:tailEnd len="sm" w="sm" type="none"/>
            </a:ln>
          </p:spPr>
        </p:cxnSp>
        <p:sp>
          <p:nvSpPr>
            <p:cNvPr id="139" name="Google Shape;139;p19"/>
            <p:cNvSpPr/>
            <p:nvPr/>
          </p:nvSpPr>
          <p:spPr>
            <a:xfrm flipH="1">
              <a:off x="2283710" y="2306625"/>
              <a:ext cx="1605900" cy="143400"/>
            </a:xfrm>
            <a:prstGeom prst="parallelogram">
              <a:avLst>
                <a:gd fmla="val 96952" name="adj"/>
              </a:avLst>
            </a:prstGeom>
            <a:solidFill>
              <a:srgbClr val="0D5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a:t>  </a:t>
              </a:r>
              <a:endParaRPr/>
            </a:p>
          </p:txBody>
        </p:sp>
        <p:sp>
          <p:nvSpPr>
            <p:cNvPr id="140" name="Google Shape;140;p19"/>
            <p:cNvSpPr/>
            <p:nvPr/>
          </p:nvSpPr>
          <p:spPr>
            <a:xfrm>
              <a:off x="2283883" y="2460450"/>
              <a:ext cx="1605900" cy="143400"/>
            </a:xfrm>
            <a:prstGeom prst="parallelogram">
              <a:avLst>
                <a:gd fmla="val 96952" name="adj"/>
              </a:avLst>
            </a:prstGeom>
            <a:solidFill>
              <a:srgbClr val="0942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9"/>
            <p:cNvSpPr txBox="1"/>
            <p:nvPr/>
          </p:nvSpPr>
          <p:spPr>
            <a:xfrm>
              <a:off x="2344313" y="2437325"/>
              <a:ext cx="1743300" cy="10362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GB" sz="2000">
                  <a:solidFill>
                    <a:schemeClr val="lt1"/>
                  </a:solidFill>
                  <a:latin typeface="Roboto"/>
                  <a:ea typeface="Roboto"/>
                  <a:cs typeface="Roboto"/>
                  <a:sym typeface="Roboto"/>
                </a:rPr>
                <a:t>Feature</a:t>
              </a:r>
              <a:r>
                <a:rPr b="1" lang="en-GB" sz="2000">
                  <a:solidFill>
                    <a:schemeClr val="lt1"/>
                  </a:solidFill>
                  <a:latin typeface="Roboto"/>
                  <a:ea typeface="Roboto"/>
                  <a:cs typeface="Roboto"/>
                  <a:sym typeface="Roboto"/>
                </a:rPr>
                <a:t> engineering </a:t>
              </a:r>
              <a:endParaRPr b="1" sz="2000">
                <a:solidFill>
                  <a:schemeClr val="lt1"/>
                </a:solidFill>
                <a:latin typeface="Roboto"/>
                <a:ea typeface="Roboto"/>
                <a:cs typeface="Roboto"/>
                <a:sym typeface="Roboto"/>
              </a:endParaRPr>
            </a:p>
          </p:txBody>
        </p:sp>
      </p:grpSp>
      <p:grpSp>
        <p:nvGrpSpPr>
          <p:cNvPr id="142" name="Google Shape;142;p19"/>
          <p:cNvGrpSpPr/>
          <p:nvPr/>
        </p:nvGrpSpPr>
        <p:grpSpPr>
          <a:xfrm>
            <a:off x="3820896" y="1695421"/>
            <a:ext cx="1787666" cy="1765916"/>
            <a:chOff x="3768859" y="1695421"/>
            <a:chExt cx="1787666" cy="1765916"/>
          </a:xfrm>
        </p:grpSpPr>
        <p:cxnSp>
          <p:nvCxnSpPr>
            <p:cNvPr id="143" name="Google Shape;143;p19"/>
            <p:cNvCxnSpPr/>
            <p:nvPr/>
          </p:nvCxnSpPr>
          <p:spPr>
            <a:xfrm>
              <a:off x="4637135"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144" name="Google Shape;144;p19"/>
            <p:cNvSpPr/>
            <p:nvPr/>
          </p:nvSpPr>
          <p:spPr>
            <a:xfrm flipH="1">
              <a:off x="3768859" y="2306625"/>
              <a:ext cx="1605900" cy="143400"/>
            </a:xfrm>
            <a:prstGeom prst="parallelogram">
              <a:avLst>
                <a:gd fmla="val 9695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a:t>  </a:t>
              </a:r>
              <a:endParaRPr/>
            </a:p>
          </p:txBody>
        </p:sp>
        <p:sp>
          <p:nvSpPr>
            <p:cNvPr id="145" name="Google Shape;145;p19"/>
            <p:cNvSpPr/>
            <p:nvPr/>
          </p:nvSpPr>
          <p:spPr>
            <a:xfrm>
              <a:off x="3769032" y="2460450"/>
              <a:ext cx="1605900" cy="143400"/>
            </a:xfrm>
            <a:prstGeom prst="parallelogram">
              <a:avLst>
                <a:gd fmla="val 9695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9"/>
            <p:cNvSpPr txBox="1"/>
            <p:nvPr/>
          </p:nvSpPr>
          <p:spPr>
            <a:xfrm>
              <a:off x="3829425" y="2221738"/>
              <a:ext cx="1727100" cy="12396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GB" sz="2000">
                  <a:solidFill>
                    <a:schemeClr val="lt1"/>
                  </a:solidFill>
                  <a:latin typeface="Roboto"/>
                  <a:ea typeface="Roboto"/>
                  <a:cs typeface="Roboto"/>
                  <a:sym typeface="Roboto"/>
                </a:rPr>
                <a:t>Model development</a:t>
              </a:r>
              <a:endParaRPr b="1" sz="2000">
                <a:solidFill>
                  <a:schemeClr val="lt1"/>
                </a:solidFill>
                <a:latin typeface="Roboto"/>
                <a:ea typeface="Roboto"/>
                <a:cs typeface="Roboto"/>
                <a:sym typeface="Roboto"/>
              </a:endParaRPr>
            </a:p>
          </p:txBody>
        </p:sp>
      </p:grpSp>
      <p:grpSp>
        <p:nvGrpSpPr>
          <p:cNvPr id="147" name="Google Shape;147;p19"/>
          <p:cNvGrpSpPr/>
          <p:nvPr/>
        </p:nvGrpSpPr>
        <p:grpSpPr>
          <a:xfrm>
            <a:off x="7362989" y="1713721"/>
            <a:ext cx="1606073" cy="1627804"/>
            <a:chOff x="6741789" y="1695421"/>
            <a:chExt cx="1606073" cy="1627804"/>
          </a:xfrm>
        </p:grpSpPr>
        <p:cxnSp>
          <p:nvCxnSpPr>
            <p:cNvPr id="148" name="Google Shape;148;p19"/>
            <p:cNvCxnSpPr/>
            <p:nvPr/>
          </p:nvCxnSpPr>
          <p:spPr>
            <a:xfrm>
              <a:off x="7610066" y="1695421"/>
              <a:ext cx="718500" cy="741900"/>
            </a:xfrm>
            <a:prstGeom prst="straightConnector1">
              <a:avLst/>
            </a:prstGeom>
            <a:noFill/>
            <a:ln cap="flat" cmpd="sng" w="9525">
              <a:solidFill>
                <a:schemeClr val="lt1"/>
              </a:solidFill>
              <a:prstDash val="solid"/>
              <a:round/>
              <a:headEnd len="sm" w="sm" type="none"/>
              <a:tailEnd len="sm" w="sm" type="none"/>
            </a:ln>
          </p:spPr>
        </p:cxnSp>
        <p:sp>
          <p:nvSpPr>
            <p:cNvPr id="149" name="Google Shape;149;p19"/>
            <p:cNvSpPr/>
            <p:nvPr/>
          </p:nvSpPr>
          <p:spPr>
            <a:xfrm flipH="1">
              <a:off x="6741789" y="2306625"/>
              <a:ext cx="1605900" cy="143400"/>
            </a:xfrm>
            <a:prstGeom prst="parallelogram">
              <a:avLst>
                <a:gd fmla="val 96952"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  </a:t>
              </a:r>
              <a:endParaRPr/>
            </a:p>
          </p:txBody>
        </p:sp>
        <p:sp>
          <p:nvSpPr>
            <p:cNvPr id="150" name="Google Shape;150;p19"/>
            <p:cNvSpPr/>
            <p:nvPr/>
          </p:nvSpPr>
          <p:spPr>
            <a:xfrm>
              <a:off x="6741962" y="2460450"/>
              <a:ext cx="1605900" cy="143400"/>
            </a:xfrm>
            <a:prstGeom prst="parallelogram">
              <a:avLst>
                <a:gd fmla="val 96952"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9"/>
            <p:cNvSpPr txBox="1"/>
            <p:nvPr/>
          </p:nvSpPr>
          <p:spPr>
            <a:xfrm>
              <a:off x="6865702" y="2695025"/>
              <a:ext cx="1482000" cy="6282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GB" sz="2100">
                  <a:solidFill>
                    <a:schemeClr val="lt1"/>
                  </a:solidFill>
                  <a:latin typeface="Roboto"/>
                  <a:ea typeface="Roboto"/>
                  <a:cs typeface="Roboto"/>
                  <a:sym typeface="Roboto"/>
                </a:rPr>
                <a:t>Evaluation </a:t>
              </a:r>
              <a:endParaRPr b="1" sz="2100">
                <a:solidFill>
                  <a:schemeClr val="lt1"/>
                </a:solidFill>
                <a:latin typeface="Roboto"/>
                <a:ea typeface="Roboto"/>
                <a:cs typeface="Roboto"/>
                <a:sym typeface="Roboto"/>
              </a:endParaRPr>
            </a:p>
          </p:txBody>
        </p:sp>
      </p:grpSp>
      <p:grpSp>
        <p:nvGrpSpPr>
          <p:cNvPr id="152" name="Google Shape;152;p19"/>
          <p:cNvGrpSpPr/>
          <p:nvPr/>
        </p:nvGrpSpPr>
        <p:grpSpPr>
          <a:xfrm>
            <a:off x="5475516" y="1677696"/>
            <a:ext cx="2143509" cy="1788091"/>
            <a:chOff x="5256641" y="1695421"/>
            <a:chExt cx="2143509" cy="1788091"/>
          </a:xfrm>
        </p:grpSpPr>
        <p:cxnSp>
          <p:nvCxnSpPr>
            <p:cNvPr id="153" name="Google Shape;153;p19"/>
            <p:cNvCxnSpPr/>
            <p:nvPr/>
          </p:nvCxnSpPr>
          <p:spPr>
            <a:xfrm>
              <a:off x="6124917" y="1695421"/>
              <a:ext cx="718500" cy="741900"/>
            </a:xfrm>
            <a:prstGeom prst="straightConnector1">
              <a:avLst/>
            </a:prstGeom>
            <a:noFill/>
            <a:ln cap="flat" cmpd="sng" w="9525">
              <a:solidFill>
                <a:schemeClr val="lt1"/>
              </a:solidFill>
              <a:prstDash val="solid"/>
              <a:round/>
              <a:headEnd len="sm" w="sm" type="none"/>
              <a:tailEnd len="sm" w="sm" type="none"/>
            </a:ln>
          </p:spPr>
        </p:cxnSp>
        <p:sp>
          <p:nvSpPr>
            <p:cNvPr id="154" name="Google Shape;154;p19"/>
            <p:cNvSpPr/>
            <p:nvPr/>
          </p:nvSpPr>
          <p:spPr>
            <a:xfrm flipH="1">
              <a:off x="5256641" y="2306625"/>
              <a:ext cx="1605900" cy="143400"/>
            </a:xfrm>
            <a:prstGeom prst="parallelogram">
              <a:avLst>
                <a:gd fmla="val 96952"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  </a:t>
              </a:r>
              <a:endParaRPr/>
            </a:p>
          </p:txBody>
        </p:sp>
        <p:sp>
          <p:nvSpPr>
            <p:cNvPr id="155" name="Google Shape;155;p19"/>
            <p:cNvSpPr/>
            <p:nvPr/>
          </p:nvSpPr>
          <p:spPr>
            <a:xfrm>
              <a:off x="5256813" y="2460450"/>
              <a:ext cx="1605900" cy="143400"/>
            </a:xfrm>
            <a:prstGeom prst="parallelogram">
              <a:avLst>
                <a:gd fmla="val 96952"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9"/>
            <p:cNvSpPr txBox="1"/>
            <p:nvPr/>
          </p:nvSpPr>
          <p:spPr>
            <a:xfrm>
              <a:off x="5256650" y="2306613"/>
              <a:ext cx="2143500" cy="11769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GB" sz="2000">
                  <a:solidFill>
                    <a:schemeClr val="lt1"/>
                  </a:solidFill>
                  <a:latin typeface="Roboto"/>
                  <a:ea typeface="Roboto"/>
                  <a:cs typeface="Roboto"/>
                  <a:sym typeface="Roboto"/>
                </a:rPr>
                <a:t>Hyperparameter tuning</a:t>
              </a:r>
              <a:endParaRPr b="1" sz="2000">
                <a:solidFill>
                  <a:schemeClr val="lt1"/>
                </a:solidFill>
                <a:latin typeface="Roboto"/>
                <a:ea typeface="Roboto"/>
                <a:cs typeface="Roboto"/>
                <a:sym typeface="Roboto"/>
              </a:endParaRPr>
            </a:p>
          </p:txBody>
        </p:sp>
      </p:grpSp>
      <p:grpSp>
        <p:nvGrpSpPr>
          <p:cNvPr id="157" name="Google Shape;157;p19"/>
          <p:cNvGrpSpPr/>
          <p:nvPr/>
        </p:nvGrpSpPr>
        <p:grpSpPr>
          <a:xfrm>
            <a:off x="333550" y="1713721"/>
            <a:ext cx="1828800" cy="1741504"/>
            <a:chOff x="693100" y="1695421"/>
            <a:chExt cx="1828800" cy="1741504"/>
          </a:xfrm>
        </p:grpSpPr>
        <p:grpSp>
          <p:nvGrpSpPr>
            <p:cNvPr id="158" name="Google Shape;158;p19"/>
            <p:cNvGrpSpPr/>
            <p:nvPr/>
          </p:nvGrpSpPr>
          <p:grpSpPr>
            <a:xfrm>
              <a:off x="796138" y="1695421"/>
              <a:ext cx="1606073" cy="908429"/>
              <a:chOff x="796138" y="1695421"/>
              <a:chExt cx="1606073" cy="908429"/>
            </a:xfrm>
          </p:grpSpPr>
          <p:cxnSp>
            <p:nvCxnSpPr>
              <p:cNvPr id="159" name="Google Shape;159;p19"/>
              <p:cNvCxnSpPr/>
              <p:nvPr/>
            </p:nvCxnSpPr>
            <p:spPr>
              <a:xfrm>
                <a:off x="1664415" y="1695421"/>
                <a:ext cx="718500" cy="741900"/>
              </a:xfrm>
              <a:prstGeom prst="straightConnector1">
                <a:avLst/>
              </a:prstGeom>
              <a:noFill/>
              <a:ln cap="flat" cmpd="sng" w="9525">
                <a:solidFill>
                  <a:srgbClr val="0D5CDF"/>
                </a:solidFill>
                <a:prstDash val="solid"/>
                <a:round/>
                <a:headEnd len="sm" w="sm" type="none"/>
                <a:tailEnd len="sm" w="sm" type="none"/>
              </a:ln>
            </p:spPr>
          </p:cxnSp>
          <p:sp>
            <p:nvSpPr>
              <p:cNvPr id="160" name="Google Shape;160;p19"/>
              <p:cNvSpPr/>
              <p:nvPr/>
            </p:nvSpPr>
            <p:spPr>
              <a:xfrm flipH="1">
                <a:off x="796138" y="2306625"/>
                <a:ext cx="1605900" cy="143400"/>
              </a:xfrm>
              <a:prstGeom prst="parallelogram">
                <a:avLst>
                  <a:gd fmla="val 96952" name="adj"/>
                </a:avLst>
              </a:prstGeom>
              <a:solidFill>
                <a:srgbClr val="0D5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a:t>  </a:t>
                </a:r>
                <a:endParaRPr/>
              </a:p>
            </p:txBody>
          </p:sp>
          <p:sp>
            <p:nvSpPr>
              <p:cNvPr id="161" name="Google Shape;161;p19"/>
              <p:cNvSpPr/>
              <p:nvPr/>
            </p:nvSpPr>
            <p:spPr>
              <a:xfrm>
                <a:off x="796311" y="2460450"/>
                <a:ext cx="1605900" cy="143400"/>
              </a:xfrm>
              <a:prstGeom prst="parallelogram">
                <a:avLst>
                  <a:gd fmla="val 96952" name="adj"/>
                </a:avLst>
              </a:prstGeom>
              <a:solidFill>
                <a:srgbClr val="0942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2" name="Google Shape;162;p19"/>
            <p:cNvSpPr txBox="1"/>
            <p:nvPr/>
          </p:nvSpPr>
          <p:spPr>
            <a:xfrm>
              <a:off x="693100" y="2695025"/>
              <a:ext cx="1828800" cy="7419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GB" sz="2000">
                  <a:solidFill>
                    <a:schemeClr val="lt1"/>
                  </a:solidFill>
                  <a:latin typeface="Roboto"/>
                  <a:ea typeface="Roboto"/>
                  <a:cs typeface="Roboto"/>
                  <a:sym typeface="Roboto"/>
                </a:rPr>
                <a:t>Data preprocessing</a:t>
              </a:r>
              <a:endParaRPr b="1" sz="2000">
                <a:solidFill>
                  <a:schemeClr val="lt1"/>
                </a:solidFill>
                <a:latin typeface="Roboto"/>
                <a:ea typeface="Roboto"/>
                <a:cs typeface="Roboto"/>
                <a:sym typeface="Robo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0"/>
          <p:cNvSpPr txBox="1"/>
          <p:nvPr>
            <p:ph type="ctrTitle"/>
          </p:nvPr>
        </p:nvSpPr>
        <p:spPr>
          <a:xfrm>
            <a:off x="268750" y="347947"/>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DEEP NEURAL NETWORK</a:t>
            </a:r>
            <a:endParaRPr/>
          </a:p>
        </p:txBody>
      </p:sp>
      <p:sp>
        <p:nvSpPr>
          <p:cNvPr id="168" name="Google Shape;168;p20"/>
          <p:cNvSpPr txBox="1"/>
          <p:nvPr>
            <p:ph idx="1" type="subTitle"/>
          </p:nvPr>
        </p:nvSpPr>
        <p:spPr>
          <a:xfrm>
            <a:off x="460938" y="4488238"/>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p:txBody>
      </p:sp>
      <p:pic>
        <p:nvPicPr>
          <p:cNvPr id="169" name="Google Shape;169;p20" title="WhatsApp Image 2025-11-19 at 03.28.42.jpeg"/>
          <p:cNvPicPr preferRelativeResize="0"/>
          <p:nvPr/>
        </p:nvPicPr>
        <p:blipFill rotWithShape="1">
          <a:blip r:embed="rId3">
            <a:alphaModFix/>
          </a:blip>
          <a:srcRect b="0" l="0" r="0" t="0"/>
          <a:stretch/>
        </p:blipFill>
        <p:spPr>
          <a:xfrm>
            <a:off x="268750" y="1186750"/>
            <a:ext cx="4269149" cy="2917475"/>
          </a:xfrm>
          <a:prstGeom prst="rect">
            <a:avLst/>
          </a:prstGeom>
          <a:noFill/>
          <a:ln>
            <a:noFill/>
          </a:ln>
        </p:spPr>
      </p:pic>
      <p:pic>
        <p:nvPicPr>
          <p:cNvPr id="170" name="Google Shape;170;p20" title="WhatsApp Image 2025-11-19 at 03.29.50.jpeg"/>
          <p:cNvPicPr preferRelativeResize="0"/>
          <p:nvPr/>
        </p:nvPicPr>
        <p:blipFill>
          <a:blip r:embed="rId4">
            <a:alphaModFix/>
          </a:blip>
          <a:stretch>
            <a:fillRect/>
          </a:stretch>
        </p:blipFill>
        <p:spPr>
          <a:xfrm>
            <a:off x="4690300" y="1186750"/>
            <a:ext cx="4301300" cy="2917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1"/>
          <p:cNvSpPr txBox="1"/>
          <p:nvPr>
            <p:ph type="ctrTitle"/>
          </p:nvPr>
        </p:nvSpPr>
        <p:spPr>
          <a:xfrm>
            <a:off x="8281375" y="1061525"/>
            <a:ext cx="558600" cy="266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6" name="Google Shape;176;p21"/>
          <p:cNvSpPr txBox="1"/>
          <p:nvPr>
            <p:ph idx="1" type="subTitle"/>
          </p:nvPr>
        </p:nvSpPr>
        <p:spPr>
          <a:xfrm>
            <a:off x="1134495" y="3155099"/>
            <a:ext cx="894000" cy="266700"/>
          </a:xfrm>
          <a:prstGeom prst="rect">
            <a:avLst/>
          </a:prstGeom>
        </p:spPr>
        <p:txBody>
          <a:bodyPr anchorCtr="0" anchor="t" bIns="91425" lIns="91425" spcFirstLastPara="1" rIns="91425" wrap="square" tIns="91425">
            <a:normAutofit fontScale="32500" lnSpcReduction="20000"/>
          </a:bodyPr>
          <a:lstStyle/>
          <a:p>
            <a:pPr indent="0" lvl="0" marL="0" rtl="0" algn="l">
              <a:spcBef>
                <a:spcPts val="0"/>
              </a:spcBef>
              <a:spcAft>
                <a:spcPts val="0"/>
              </a:spcAft>
              <a:buNone/>
            </a:pPr>
            <a:r>
              <a:t/>
            </a:r>
            <a:endParaRPr/>
          </a:p>
        </p:txBody>
      </p:sp>
      <p:pic>
        <p:nvPicPr>
          <p:cNvPr id="177" name="Google Shape;177;p21" title="WhatsApp Image 2025-11-19 at 03.30.08.jpeg"/>
          <p:cNvPicPr preferRelativeResize="0"/>
          <p:nvPr/>
        </p:nvPicPr>
        <p:blipFill>
          <a:blip r:embed="rId3">
            <a:alphaModFix/>
          </a:blip>
          <a:stretch>
            <a:fillRect/>
          </a:stretch>
        </p:blipFill>
        <p:spPr>
          <a:xfrm>
            <a:off x="136700" y="152400"/>
            <a:ext cx="4253821" cy="4340313"/>
          </a:xfrm>
          <a:prstGeom prst="rect">
            <a:avLst/>
          </a:prstGeom>
          <a:noFill/>
          <a:ln>
            <a:noFill/>
          </a:ln>
        </p:spPr>
      </p:pic>
      <p:pic>
        <p:nvPicPr>
          <p:cNvPr id="178" name="Google Shape;178;p21" title="WhatsApp Image 2025-11-19 at 03.30.18.jpeg"/>
          <p:cNvPicPr preferRelativeResize="0"/>
          <p:nvPr/>
        </p:nvPicPr>
        <p:blipFill>
          <a:blip r:embed="rId4">
            <a:alphaModFix/>
          </a:blip>
          <a:stretch>
            <a:fillRect/>
          </a:stretch>
        </p:blipFill>
        <p:spPr>
          <a:xfrm>
            <a:off x="4558621" y="1328225"/>
            <a:ext cx="4432980" cy="243621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2"/>
          <p:cNvSpPr txBox="1"/>
          <p:nvPr>
            <p:ph type="ctrTitle"/>
          </p:nvPr>
        </p:nvSpPr>
        <p:spPr>
          <a:xfrm>
            <a:off x="460950" y="332272"/>
            <a:ext cx="8222100" cy="83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t>Random forest and Gradient Boosting</a:t>
            </a:r>
            <a:endParaRPr/>
          </a:p>
        </p:txBody>
      </p:sp>
      <p:sp>
        <p:nvSpPr>
          <p:cNvPr id="184" name="Google Shape;184;p2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p:txBody>
      </p:sp>
      <p:pic>
        <p:nvPicPr>
          <p:cNvPr id="185" name="Google Shape;185;p22"/>
          <p:cNvPicPr preferRelativeResize="0"/>
          <p:nvPr/>
        </p:nvPicPr>
        <p:blipFill>
          <a:blip r:embed="rId3">
            <a:alphaModFix/>
          </a:blip>
          <a:stretch>
            <a:fillRect/>
          </a:stretch>
        </p:blipFill>
        <p:spPr>
          <a:xfrm>
            <a:off x="2065900" y="1171075"/>
            <a:ext cx="4769224" cy="38200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3"/>
          <p:cNvSpPr txBox="1"/>
          <p:nvPr>
            <p:ph type="ctrTitle"/>
          </p:nvPr>
        </p:nvSpPr>
        <p:spPr>
          <a:xfrm>
            <a:off x="315775" y="12837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Results</a:t>
            </a:r>
            <a:endParaRPr/>
          </a:p>
        </p:txBody>
      </p:sp>
      <p:sp>
        <p:nvSpPr>
          <p:cNvPr id="191" name="Google Shape;191;p23"/>
          <p:cNvSpPr txBox="1"/>
          <p:nvPr>
            <p:ph idx="1" type="subTitle"/>
          </p:nvPr>
        </p:nvSpPr>
        <p:spPr>
          <a:xfrm flipH="1" rot="10800000">
            <a:off x="7988564" y="4607323"/>
            <a:ext cx="694500" cy="5319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t/>
            </a:r>
            <a:endParaRPr/>
          </a:p>
        </p:txBody>
      </p:sp>
      <p:graphicFrame>
        <p:nvGraphicFramePr>
          <p:cNvPr id="192" name="Google Shape;192;p23"/>
          <p:cNvGraphicFramePr/>
          <p:nvPr/>
        </p:nvGraphicFramePr>
        <p:xfrm>
          <a:off x="388375" y="1076975"/>
          <a:ext cx="3000000" cy="3000000"/>
        </p:xfrm>
        <a:graphic>
          <a:graphicData uri="http://schemas.openxmlformats.org/drawingml/2006/table">
            <a:tbl>
              <a:tblPr>
                <a:noFill/>
                <a:tableStyleId>{757EC6B8-CC8A-4944-BB13-1CE606FE3346}</a:tableStyleId>
              </a:tblPr>
              <a:tblGrid>
                <a:gridCol w="2692300"/>
                <a:gridCol w="2692300"/>
                <a:gridCol w="2692300"/>
              </a:tblGrid>
              <a:tr h="702050">
                <a:tc>
                  <a:txBody>
                    <a:bodyPr/>
                    <a:lstStyle/>
                    <a:p>
                      <a:pPr indent="0" lvl="0" marL="0" rtl="0" algn="l">
                        <a:spcBef>
                          <a:spcPts val="0"/>
                        </a:spcBef>
                        <a:spcAft>
                          <a:spcPts val="0"/>
                        </a:spcAft>
                        <a:buNone/>
                      </a:pPr>
                      <a:r>
                        <a:rPr lang="en-GB" sz="2200">
                          <a:solidFill>
                            <a:schemeClr val="lt1"/>
                          </a:solidFill>
                          <a:highlight>
                            <a:schemeClr val="dk1"/>
                          </a:highlight>
                        </a:rPr>
                        <a:t> Model</a:t>
                      </a:r>
                      <a:endParaRPr sz="2200">
                        <a:solidFill>
                          <a:schemeClr val="lt1"/>
                        </a:solidFill>
                        <a:highlight>
                          <a:schemeClr val="dk1"/>
                        </a:highlight>
                      </a:endParaRPr>
                    </a:p>
                  </a:txBody>
                  <a:tcPr marT="91425" marB="91425" marR="91425" marL="91425">
                    <a:solidFill>
                      <a:schemeClr val="dk1"/>
                    </a:solidFill>
                  </a:tcPr>
                </a:tc>
                <a:tc>
                  <a:txBody>
                    <a:bodyPr/>
                    <a:lstStyle/>
                    <a:p>
                      <a:pPr indent="0" lvl="0" marL="0" rtl="0" algn="l">
                        <a:spcBef>
                          <a:spcPts val="0"/>
                        </a:spcBef>
                        <a:spcAft>
                          <a:spcPts val="0"/>
                        </a:spcAft>
                        <a:buNone/>
                      </a:pPr>
                      <a:r>
                        <a:rPr lang="en-GB" sz="2000">
                          <a:solidFill>
                            <a:schemeClr val="lt1"/>
                          </a:solidFill>
                        </a:rPr>
                        <a:t>BASELINE RESULTS</a:t>
                      </a:r>
                      <a:endParaRPr sz="2000">
                        <a:solidFill>
                          <a:schemeClr val="lt1"/>
                        </a:solidFill>
                      </a:endParaRPr>
                    </a:p>
                  </a:txBody>
                  <a:tcPr marT="91425" marB="91425" marR="91425" marL="91425"/>
                </a:tc>
                <a:tc>
                  <a:txBody>
                    <a:bodyPr/>
                    <a:lstStyle/>
                    <a:p>
                      <a:pPr indent="0" lvl="0" marL="0" rtl="0" algn="l">
                        <a:spcBef>
                          <a:spcPts val="0"/>
                        </a:spcBef>
                        <a:spcAft>
                          <a:spcPts val="0"/>
                        </a:spcAft>
                        <a:buNone/>
                      </a:pPr>
                      <a:r>
                        <a:rPr lang="en-GB" sz="1900">
                          <a:solidFill>
                            <a:schemeClr val="lt1"/>
                          </a:solidFill>
                        </a:rPr>
                        <a:t>AFTER HYPERPARAMETER TUNING</a:t>
                      </a:r>
                      <a:endParaRPr sz="1900">
                        <a:solidFill>
                          <a:schemeClr val="lt1"/>
                        </a:solidFill>
                      </a:endParaRPr>
                    </a:p>
                  </a:txBody>
                  <a:tcPr marT="91425" marB="91425" marR="91425" marL="91425"/>
                </a:tc>
              </a:tr>
              <a:tr h="702050">
                <a:tc>
                  <a:txBody>
                    <a:bodyPr/>
                    <a:lstStyle/>
                    <a:p>
                      <a:pPr indent="0" lvl="0" marL="0" rtl="0" algn="l">
                        <a:spcBef>
                          <a:spcPts val="0"/>
                        </a:spcBef>
                        <a:spcAft>
                          <a:spcPts val="0"/>
                        </a:spcAft>
                        <a:buNone/>
                      </a:pPr>
                      <a:r>
                        <a:rPr lang="en-GB" sz="2700">
                          <a:solidFill>
                            <a:schemeClr val="lt1"/>
                          </a:solidFill>
                        </a:rPr>
                        <a:t>DNN</a:t>
                      </a:r>
                      <a:endParaRPr sz="2700">
                        <a:solidFill>
                          <a:schemeClr val="lt1"/>
                        </a:solidFill>
                      </a:endParaRPr>
                    </a:p>
                  </a:txBody>
                  <a:tcPr marT="91425" marB="91425" marR="91425" marL="91425"/>
                </a:tc>
                <a:tc>
                  <a:txBody>
                    <a:bodyPr/>
                    <a:lstStyle/>
                    <a:p>
                      <a:pPr indent="0" lvl="0" marL="0" rtl="0" algn="l">
                        <a:spcBef>
                          <a:spcPts val="0"/>
                        </a:spcBef>
                        <a:spcAft>
                          <a:spcPts val="0"/>
                        </a:spcAft>
                        <a:buNone/>
                      </a:pPr>
                      <a:r>
                        <a:rPr lang="en-GB" sz="2100">
                          <a:solidFill>
                            <a:schemeClr val="lt1"/>
                          </a:solidFill>
                          <a:latin typeface="Roboto"/>
                          <a:ea typeface="Roboto"/>
                          <a:cs typeface="Roboto"/>
                          <a:sym typeface="Roboto"/>
                        </a:rPr>
                        <a:t>R²=0.83</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GB" sz="2100">
                          <a:solidFill>
                            <a:schemeClr val="lt1"/>
                          </a:solidFill>
                          <a:latin typeface="Roboto"/>
                          <a:ea typeface="Roboto"/>
                          <a:cs typeface="Roboto"/>
                          <a:sym typeface="Roboto"/>
                        </a:rPr>
                        <a:t>R²=0.89</a:t>
                      </a:r>
                      <a:endParaRPr/>
                    </a:p>
                  </a:txBody>
                  <a:tcPr marT="91425" marB="91425" marR="91425" marL="91425"/>
                </a:tc>
              </a:tr>
              <a:tr h="702050">
                <a:tc>
                  <a:txBody>
                    <a:bodyPr/>
                    <a:lstStyle/>
                    <a:p>
                      <a:pPr indent="0" lvl="0" marL="0" rtl="0" algn="l">
                        <a:spcBef>
                          <a:spcPts val="0"/>
                        </a:spcBef>
                        <a:spcAft>
                          <a:spcPts val="0"/>
                        </a:spcAft>
                        <a:buNone/>
                      </a:pPr>
                      <a:r>
                        <a:rPr lang="en-GB" sz="2700">
                          <a:solidFill>
                            <a:schemeClr val="lt1"/>
                          </a:solidFill>
                        </a:rPr>
                        <a:t>Random       Forest</a:t>
                      </a:r>
                      <a:endParaRPr sz="2700">
                        <a:solidFill>
                          <a:schemeClr val="lt1"/>
                        </a:solidFill>
                      </a:endParaRPr>
                    </a:p>
                  </a:txBody>
                  <a:tcPr marT="91425" marB="91425" marR="91425" marL="91425"/>
                </a:tc>
                <a:tc>
                  <a:txBody>
                    <a:bodyPr/>
                    <a:lstStyle/>
                    <a:p>
                      <a:pPr indent="0" lvl="0" marL="0" rtl="0" algn="l">
                        <a:spcBef>
                          <a:spcPts val="0"/>
                        </a:spcBef>
                        <a:spcAft>
                          <a:spcPts val="0"/>
                        </a:spcAft>
                        <a:buNone/>
                      </a:pPr>
                      <a:r>
                        <a:rPr lang="en-GB" sz="2100">
                          <a:solidFill>
                            <a:schemeClr val="lt1"/>
                          </a:solidFill>
                          <a:latin typeface="Roboto"/>
                          <a:ea typeface="Roboto"/>
                          <a:cs typeface="Roboto"/>
                          <a:sym typeface="Roboto"/>
                        </a:rPr>
                        <a:t>R²=0.77</a:t>
                      </a:r>
                      <a:endParaRPr/>
                    </a:p>
                  </a:txBody>
                  <a:tcPr marT="91425" marB="91425" marR="91425" marL="91425"/>
                </a:tc>
                <a:tc>
                  <a:txBody>
                    <a:bodyPr/>
                    <a:lstStyle/>
                    <a:p>
                      <a:pPr indent="0" lvl="0" marL="0" rtl="0" algn="l">
                        <a:spcBef>
                          <a:spcPts val="0"/>
                        </a:spcBef>
                        <a:spcAft>
                          <a:spcPts val="0"/>
                        </a:spcAft>
                        <a:buNone/>
                      </a:pPr>
                      <a:r>
                        <a:rPr lang="en-GB" sz="2100">
                          <a:solidFill>
                            <a:schemeClr val="lt1"/>
                          </a:solidFill>
                          <a:latin typeface="Roboto"/>
                          <a:ea typeface="Roboto"/>
                          <a:cs typeface="Roboto"/>
                          <a:sym typeface="Roboto"/>
                        </a:rPr>
                        <a:t>R²=0.83</a:t>
                      </a:r>
                      <a:endParaRPr/>
                    </a:p>
                  </a:txBody>
                  <a:tcPr marT="91425" marB="91425" marR="91425" marL="91425"/>
                </a:tc>
              </a:tr>
              <a:tr h="702050">
                <a:tc>
                  <a:txBody>
                    <a:bodyPr/>
                    <a:lstStyle/>
                    <a:p>
                      <a:pPr indent="0" lvl="0" marL="0" rtl="0" algn="l">
                        <a:spcBef>
                          <a:spcPts val="0"/>
                        </a:spcBef>
                        <a:spcAft>
                          <a:spcPts val="0"/>
                        </a:spcAft>
                        <a:buNone/>
                      </a:pPr>
                      <a:r>
                        <a:rPr lang="en-GB" sz="2700">
                          <a:solidFill>
                            <a:schemeClr val="lt1"/>
                          </a:solidFill>
                        </a:rPr>
                        <a:t>Gradient          Boosting</a:t>
                      </a:r>
                      <a:endParaRPr sz="2700">
                        <a:solidFill>
                          <a:schemeClr val="lt1"/>
                        </a:solidFill>
                      </a:endParaRPr>
                    </a:p>
                  </a:txBody>
                  <a:tcPr marT="91425" marB="91425" marR="91425" marL="91425"/>
                </a:tc>
                <a:tc>
                  <a:txBody>
                    <a:bodyPr/>
                    <a:lstStyle/>
                    <a:p>
                      <a:pPr indent="0" lvl="0" marL="0" rtl="0" algn="l">
                        <a:spcBef>
                          <a:spcPts val="0"/>
                        </a:spcBef>
                        <a:spcAft>
                          <a:spcPts val="0"/>
                        </a:spcAft>
                        <a:buNone/>
                      </a:pPr>
                      <a:r>
                        <a:rPr lang="en-GB" sz="2100">
                          <a:solidFill>
                            <a:schemeClr val="lt1"/>
                          </a:solidFill>
                          <a:latin typeface="Roboto"/>
                          <a:ea typeface="Roboto"/>
                          <a:cs typeface="Roboto"/>
                          <a:sym typeface="Roboto"/>
                        </a:rPr>
                        <a:t>R²=0.73</a:t>
                      </a:r>
                      <a:endParaRPr/>
                    </a:p>
                  </a:txBody>
                  <a:tcPr marT="91425" marB="91425" marR="91425" marL="91425"/>
                </a:tc>
                <a:tc>
                  <a:txBody>
                    <a:bodyPr/>
                    <a:lstStyle/>
                    <a:p>
                      <a:pPr indent="0" lvl="0" marL="0" rtl="0" algn="l">
                        <a:spcBef>
                          <a:spcPts val="0"/>
                        </a:spcBef>
                        <a:spcAft>
                          <a:spcPts val="0"/>
                        </a:spcAft>
                        <a:buNone/>
                      </a:pPr>
                      <a:r>
                        <a:rPr lang="en-GB" sz="2100">
                          <a:solidFill>
                            <a:schemeClr val="lt1"/>
                          </a:solidFill>
                          <a:latin typeface="Roboto"/>
                          <a:ea typeface="Roboto"/>
                          <a:cs typeface="Roboto"/>
                          <a:sym typeface="Roboto"/>
                        </a:rPr>
                        <a:t>R²=0.899</a:t>
                      </a:r>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4"/>
          <p:cNvSpPr txBox="1"/>
          <p:nvPr>
            <p:ph type="ctrTitle"/>
          </p:nvPr>
        </p:nvSpPr>
        <p:spPr>
          <a:xfrm>
            <a:off x="183875" y="133800"/>
            <a:ext cx="7517400" cy="781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t>Hyperparameter Tuning </a:t>
            </a:r>
            <a:endParaRPr/>
          </a:p>
        </p:txBody>
      </p:sp>
      <p:sp>
        <p:nvSpPr>
          <p:cNvPr id="198" name="Google Shape;198;p24"/>
          <p:cNvSpPr txBox="1"/>
          <p:nvPr>
            <p:ph idx="1" type="subTitle"/>
          </p:nvPr>
        </p:nvSpPr>
        <p:spPr>
          <a:xfrm>
            <a:off x="2999373" y="1845863"/>
            <a:ext cx="2591100" cy="409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a:t>2)Random Forest:</a:t>
            </a:r>
            <a:endParaRPr/>
          </a:p>
        </p:txBody>
      </p:sp>
      <p:sp>
        <p:nvSpPr>
          <p:cNvPr id="199" name="Google Shape;199;p24"/>
          <p:cNvSpPr txBox="1"/>
          <p:nvPr/>
        </p:nvSpPr>
        <p:spPr>
          <a:xfrm>
            <a:off x="35075" y="2364575"/>
            <a:ext cx="2777700" cy="2678100"/>
          </a:xfrm>
          <a:prstGeom prst="rect">
            <a:avLst/>
          </a:prstGeom>
          <a:solidFill>
            <a:schemeClr val="accent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lt1"/>
                </a:solidFill>
                <a:latin typeface="Roboto"/>
                <a:ea typeface="Roboto"/>
                <a:cs typeface="Roboto"/>
                <a:sym typeface="Roboto"/>
              </a:rPr>
              <a:t>learning_rate,  number_of_layers</a:t>
            </a:r>
            <a:endParaRPr sz="1800">
              <a:solidFill>
                <a:schemeClr val="lt1"/>
              </a:solidFill>
              <a:latin typeface="Roboto"/>
              <a:ea typeface="Roboto"/>
              <a:cs typeface="Roboto"/>
              <a:sym typeface="Roboto"/>
            </a:endParaRPr>
          </a:p>
          <a:p>
            <a:pPr indent="0" lvl="0" marL="0" rtl="0" algn="l">
              <a:spcBef>
                <a:spcPts val="0"/>
              </a:spcBef>
              <a:spcAft>
                <a:spcPts val="0"/>
              </a:spcAft>
              <a:buNone/>
            </a:pPr>
            <a:r>
              <a:rPr lang="en-GB" sz="1800">
                <a:solidFill>
                  <a:schemeClr val="lt1"/>
                </a:solidFill>
                <a:latin typeface="Roboto"/>
                <a:ea typeface="Roboto"/>
                <a:cs typeface="Roboto"/>
                <a:sym typeface="Roboto"/>
              </a:rPr>
              <a:t>number_of_neurons</a:t>
            </a:r>
            <a:endParaRPr sz="1800">
              <a:solidFill>
                <a:schemeClr val="lt1"/>
              </a:solidFill>
              <a:latin typeface="Roboto"/>
              <a:ea typeface="Roboto"/>
              <a:cs typeface="Roboto"/>
              <a:sym typeface="Roboto"/>
            </a:endParaRPr>
          </a:p>
          <a:p>
            <a:pPr indent="0" lvl="0" marL="0" rtl="0" algn="l">
              <a:spcBef>
                <a:spcPts val="0"/>
              </a:spcBef>
              <a:spcAft>
                <a:spcPts val="0"/>
              </a:spcAft>
              <a:buNone/>
            </a:pPr>
            <a:r>
              <a:rPr lang="en-GB" sz="1800">
                <a:solidFill>
                  <a:schemeClr val="lt1"/>
                </a:solidFill>
                <a:latin typeface="Roboto"/>
                <a:ea typeface="Roboto"/>
                <a:cs typeface="Roboto"/>
                <a:sym typeface="Roboto"/>
              </a:rPr>
              <a:t> activation_function</a:t>
            </a:r>
            <a:endParaRPr sz="1800">
              <a:solidFill>
                <a:schemeClr val="lt1"/>
              </a:solidFill>
              <a:latin typeface="Roboto"/>
              <a:ea typeface="Roboto"/>
              <a:cs typeface="Roboto"/>
              <a:sym typeface="Roboto"/>
            </a:endParaRPr>
          </a:p>
          <a:p>
            <a:pPr indent="0" lvl="0" marL="0" rtl="0" algn="l">
              <a:spcBef>
                <a:spcPts val="0"/>
              </a:spcBef>
              <a:spcAft>
                <a:spcPts val="0"/>
              </a:spcAft>
              <a:buNone/>
            </a:pPr>
            <a:r>
              <a:rPr lang="en-GB" sz="1800">
                <a:solidFill>
                  <a:schemeClr val="lt1"/>
                </a:solidFill>
                <a:latin typeface="Roboto"/>
                <a:ea typeface="Roboto"/>
                <a:cs typeface="Roboto"/>
                <a:sym typeface="Roboto"/>
              </a:rPr>
              <a:t>batch_size</a:t>
            </a:r>
            <a:endParaRPr sz="1800">
              <a:solidFill>
                <a:schemeClr val="lt1"/>
              </a:solidFill>
              <a:latin typeface="Roboto"/>
              <a:ea typeface="Roboto"/>
              <a:cs typeface="Roboto"/>
              <a:sym typeface="Roboto"/>
            </a:endParaRPr>
          </a:p>
          <a:p>
            <a:pPr indent="0" lvl="0" marL="0" rtl="0" algn="l">
              <a:spcBef>
                <a:spcPts val="0"/>
              </a:spcBef>
              <a:spcAft>
                <a:spcPts val="0"/>
              </a:spcAft>
              <a:buNone/>
            </a:pPr>
            <a:r>
              <a:rPr lang="en-GB" sz="1800">
                <a:solidFill>
                  <a:schemeClr val="lt1"/>
                </a:solidFill>
                <a:latin typeface="Roboto"/>
                <a:ea typeface="Roboto"/>
                <a:cs typeface="Roboto"/>
                <a:sym typeface="Roboto"/>
              </a:rPr>
              <a:t> epochs</a:t>
            </a:r>
            <a:endParaRPr sz="1800">
              <a:solidFill>
                <a:schemeClr val="lt1"/>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200" name="Google Shape;200;p24"/>
          <p:cNvSpPr txBox="1"/>
          <p:nvPr/>
        </p:nvSpPr>
        <p:spPr>
          <a:xfrm>
            <a:off x="2999375" y="2364575"/>
            <a:ext cx="2777700" cy="2678100"/>
          </a:xfrm>
          <a:prstGeom prst="rect">
            <a:avLst/>
          </a:prstGeom>
          <a:solidFill>
            <a:schemeClr val="accent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lt1"/>
                </a:solidFill>
                <a:latin typeface="Roboto"/>
                <a:ea typeface="Roboto"/>
                <a:cs typeface="Roboto"/>
                <a:sym typeface="Roboto"/>
              </a:rPr>
              <a:t>N_estimators</a:t>
            </a:r>
            <a:endParaRPr sz="1800">
              <a:solidFill>
                <a:schemeClr val="lt1"/>
              </a:solidFill>
              <a:latin typeface="Roboto"/>
              <a:ea typeface="Roboto"/>
              <a:cs typeface="Roboto"/>
              <a:sym typeface="Roboto"/>
            </a:endParaRPr>
          </a:p>
          <a:p>
            <a:pPr indent="0" lvl="0" marL="0" rtl="0" algn="l">
              <a:spcBef>
                <a:spcPts val="0"/>
              </a:spcBef>
              <a:spcAft>
                <a:spcPts val="0"/>
              </a:spcAft>
              <a:buNone/>
            </a:pPr>
            <a:r>
              <a:rPr lang="en-GB" sz="1800">
                <a:solidFill>
                  <a:schemeClr val="lt1"/>
                </a:solidFill>
                <a:latin typeface="Roboto"/>
                <a:ea typeface="Roboto"/>
                <a:cs typeface="Roboto"/>
                <a:sym typeface="Roboto"/>
              </a:rPr>
              <a:t>Max_features</a:t>
            </a:r>
            <a:endParaRPr sz="1800">
              <a:solidFill>
                <a:schemeClr val="lt1"/>
              </a:solidFill>
              <a:latin typeface="Roboto"/>
              <a:ea typeface="Roboto"/>
              <a:cs typeface="Roboto"/>
              <a:sym typeface="Roboto"/>
            </a:endParaRPr>
          </a:p>
          <a:p>
            <a:pPr indent="0" lvl="0" marL="0" rtl="0" algn="l">
              <a:spcBef>
                <a:spcPts val="0"/>
              </a:spcBef>
              <a:spcAft>
                <a:spcPts val="0"/>
              </a:spcAft>
              <a:buNone/>
            </a:pPr>
            <a:r>
              <a:rPr lang="en-GB" sz="1800">
                <a:solidFill>
                  <a:schemeClr val="lt1"/>
                </a:solidFill>
                <a:latin typeface="Roboto"/>
                <a:ea typeface="Roboto"/>
                <a:cs typeface="Roboto"/>
                <a:sym typeface="Roboto"/>
              </a:rPr>
              <a:t>Max_depth </a:t>
            </a:r>
            <a:endParaRPr sz="1800">
              <a:solidFill>
                <a:schemeClr val="lt1"/>
              </a:solidFill>
              <a:latin typeface="Roboto"/>
              <a:ea typeface="Roboto"/>
              <a:cs typeface="Roboto"/>
              <a:sym typeface="Roboto"/>
            </a:endParaRPr>
          </a:p>
          <a:p>
            <a:pPr indent="0" lvl="0" marL="0" rtl="0" algn="l">
              <a:spcBef>
                <a:spcPts val="0"/>
              </a:spcBef>
              <a:spcAft>
                <a:spcPts val="0"/>
              </a:spcAft>
              <a:buNone/>
            </a:pPr>
            <a:r>
              <a:rPr lang="en-GB" sz="1800">
                <a:solidFill>
                  <a:schemeClr val="lt1"/>
                </a:solidFill>
                <a:latin typeface="Roboto"/>
                <a:ea typeface="Roboto"/>
                <a:cs typeface="Roboto"/>
                <a:sym typeface="Roboto"/>
              </a:rPr>
              <a:t>Min_samples_split</a:t>
            </a:r>
            <a:endParaRPr sz="1800">
              <a:solidFill>
                <a:schemeClr val="lt1"/>
              </a:solidFill>
              <a:latin typeface="Roboto"/>
              <a:ea typeface="Roboto"/>
              <a:cs typeface="Roboto"/>
              <a:sym typeface="Roboto"/>
            </a:endParaRPr>
          </a:p>
          <a:p>
            <a:pPr indent="0" lvl="0" marL="0" rtl="0" algn="l">
              <a:spcBef>
                <a:spcPts val="0"/>
              </a:spcBef>
              <a:spcAft>
                <a:spcPts val="0"/>
              </a:spcAft>
              <a:buNone/>
            </a:pPr>
            <a:r>
              <a:rPr lang="en-GB" sz="1800">
                <a:solidFill>
                  <a:schemeClr val="lt1"/>
                </a:solidFill>
                <a:latin typeface="Roboto"/>
                <a:ea typeface="Roboto"/>
                <a:cs typeface="Roboto"/>
                <a:sym typeface="Roboto"/>
              </a:rPr>
              <a:t>min_samples_leaf</a:t>
            </a:r>
            <a:endParaRPr sz="1800">
              <a:solidFill>
                <a:schemeClr val="lt1"/>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201" name="Google Shape;201;p24"/>
          <p:cNvSpPr txBox="1"/>
          <p:nvPr/>
        </p:nvSpPr>
        <p:spPr>
          <a:xfrm>
            <a:off x="5963675" y="2364575"/>
            <a:ext cx="2777700" cy="2678100"/>
          </a:xfrm>
          <a:prstGeom prst="rect">
            <a:avLst/>
          </a:prstGeom>
          <a:solidFill>
            <a:schemeClr val="accent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lt1"/>
                </a:solidFill>
                <a:latin typeface="Roboto"/>
                <a:ea typeface="Roboto"/>
                <a:cs typeface="Roboto"/>
                <a:sym typeface="Roboto"/>
              </a:rPr>
              <a:t>N_estimators</a:t>
            </a:r>
            <a:endParaRPr sz="1800">
              <a:solidFill>
                <a:schemeClr val="lt1"/>
              </a:solidFill>
              <a:latin typeface="Roboto"/>
              <a:ea typeface="Roboto"/>
              <a:cs typeface="Roboto"/>
              <a:sym typeface="Roboto"/>
            </a:endParaRPr>
          </a:p>
          <a:p>
            <a:pPr indent="0" lvl="0" marL="0" rtl="0" algn="l">
              <a:spcBef>
                <a:spcPts val="0"/>
              </a:spcBef>
              <a:spcAft>
                <a:spcPts val="0"/>
              </a:spcAft>
              <a:buNone/>
            </a:pPr>
            <a:r>
              <a:rPr lang="en-GB" sz="1800">
                <a:solidFill>
                  <a:schemeClr val="lt1"/>
                </a:solidFill>
                <a:latin typeface="Roboto"/>
                <a:ea typeface="Roboto"/>
                <a:cs typeface="Roboto"/>
                <a:sym typeface="Roboto"/>
              </a:rPr>
              <a:t>Max_features</a:t>
            </a:r>
            <a:endParaRPr sz="1800">
              <a:solidFill>
                <a:schemeClr val="lt1"/>
              </a:solidFill>
              <a:latin typeface="Roboto"/>
              <a:ea typeface="Roboto"/>
              <a:cs typeface="Roboto"/>
              <a:sym typeface="Roboto"/>
            </a:endParaRPr>
          </a:p>
          <a:p>
            <a:pPr indent="0" lvl="0" marL="0" rtl="0" algn="l">
              <a:spcBef>
                <a:spcPts val="0"/>
              </a:spcBef>
              <a:spcAft>
                <a:spcPts val="0"/>
              </a:spcAft>
              <a:buNone/>
            </a:pPr>
            <a:r>
              <a:rPr lang="en-GB" sz="1800">
                <a:solidFill>
                  <a:schemeClr val="lt1"/>
                </a:solidFill>
                <a:latin typeface="Roboto"/>
                <a:ea typeface="Roboto"/>
                <a:cs typeface="Roboto"/>
                <a:sym typeface="Roboto"/>
              </a:rPr>
              <a:t>Max_depth </a:t>
            </a:r>
            <a:endParaRPr sz="1800">
              <a:solidFill>
                <a:schemeClr val="lt1"/>
              </a:solidFill>
              <a:latin typeface="Roboto"/>
              <a:ea typeface="Roboto"/>
              <a:cs typeface="Roboto"/>
              <a:sym typeface="Roboto"/>
            </a:endParaRPr>
          </a:p>
          <a:p>
            <a:pPr indent="0" lvl="0" marL="0" rtl="0" algn="l">
              <a:spcBef>
                <a:spcPts val="0"/>
              </a:spcBef>
              <a:spcAft>
                <a:spcPts val="0"/>
              </a:spcAft>
              <a:buNone/>
            </a:pPr>
            <a:r>
              <a:rPr lang="en-GB" sz="1800">
                <a:solidFill>
                  <a:schemeClr val="lt1"/>
                </a:solidFill>
                <a:latin typeface="Roboto"/>
                <a:ea typeface="Roboto"/>
                <a:cs typeface="Roboto"/>
                <a:sym typeface="Roboto"/>
              </a:rPr>
              <a:t>Min_samples_split</a:t>
            </a:r>
            <a:endParaRPr sz="1800">
              <a:solidFill>
                <a:schemeClr val="lt1"/>
              </a:solidFill>
              <a:latin typeface="Roboto"/>
              <a:ea typeface="Roboto"/>
              <a:cs typeface="Roboto"/>
              <a:sym typeface="Roboto"/>
            </a:endParaRPr>
          </a:p>
          <a:p>
            <a:pPr indent="0" lvl="0" marL="0" rtl="0" algn="l">
              <a:spcBef>
                <a:spcPts val="0"/>
              </a:spcBef>
              <a:spcAft>
                <a:spcPts val="0"/>
              </a:spcAft>
              <a:buNone/>
            </a:pPr>
            <a:r>
              <a:rPr lang="en-GB" sz="1800">
                <a:solidFill>
                  <a:schemeClr val="lt1"/>
                </a:solidFill>
                <a:latin typeface="Roboto"/>
                <a:ea typeface="Roboto"/>
                <a:cs typeface="Roboto"/>
                <a:sym typeface="Roboto"/>
              </a:rPr>
              <a:t>Min_samples_leaf</a:t>
            </a:r>
            <a:endParaRPr sz="1800">
              <a:solidFill>
                <a:schemeClr val="lt1"/>
              </a:solidFill>
              <a:latin typeface="Roboto"/>
              <a:ea typeface="Roboto"/>
              <a:cs typeface="Roboto"/>
              <a:sym typeface="Roboto"/>
            </a:endParaRPr>
          </a:p>
          <a:p>
            <a:pPr indent="0" lvl="0" marL="0" rtl="0" algn="l">
              <a:spcBef>
                <a:spcPts val="0"/>
              </a:spcBef>
              <a:spcAft>
                <a:spcPts val="0"/>
              </a:spcAft>
              <a:buNone/>
            </a:pPr>
            <a:r>
              <a:rPr lang="en-GB" sz="1800">
                <a:solidFill>
                  <a:schemeClr val="lt1"/>
                </a:solidFill>
                <a:latin typeface="Roboto"/>
                <a:ea typeface="Roboto"/>
                <a:cs typeface="Roboto"/>
                <a:sym typeface="Roboto"/>
              </a:rPr>
              <a:t>Reg_lambda</a:t>
            </a:r>
            <a:endParaRPr sz="1800">
              <a:solidFill>
                <a:schemeClr val="lt1"/>
              </a:solidFill>
              <a:latin typeface="Roboto"/>
              <a:ea typeface="Roboto"/>
              <a:cs typeface="Roboto"/>
              <a:sym typeface="Roboto"/>
            </a:endParaRPr>
          </a:p>
          <a:p>
            <a:pPr indent="0" lvl="0" marL="0" rtl="0" algn="l">
              <a:spcBef>
                <a:spcPts val="0"/>
              </a:spcBef>
              <a:spcAft>
                <a:spcPts val="0"/>
              </a:spcAft>
              <a:buNone/>
            </a:pPr>
            <a:r>
              <a:rPr lang="en-GB" sz="1800">
                <a:solidFill>
                  <a:schemeClr val="lt1"/>
                </a:solidFill>
                <a:latin typeface="Roboto"/>
                <a:ea typeface="Roboto"/>
                <a:cs typeface="Roboto"/>
                <a:sym typeface="Roboto"/>
              </a:rPr>
              <a:t>Early_stopping_rounds</a:t>
            </a:r>
            <a:endParaRPr sz="1800">
              <a:solidFill>
                <a:schemeClr val="lt1"/>
              </a:solidFill>
              <a:latin typeface="Roboto"/>
              <a:ea typeface="Roboto"/>
              <a:cs typeface="Roboto"/>
              <a:sym typeface="Roboto"/>
            </a:endParaRPr>
          </a:p>
          <a:p>
            <a:pPr indent="0" lvl="0" marL="0" rtl="0" algn="l">
              <a:spcBef>
                <a:spcPts val="0"/>
              </a:spcBef>
              <a:spcAft>
                <a:spcPts val="0"/>
              </a:spcAft>
              <a:buNone/>
            </a:pPr>
            <a:r>
              <a:rPr lang="en-GB" sz="1800">
                <a:solidFill>
                  <a:schemeClr val="lt1"/>
                </a:solidFill>
                <a:latin typeface="Roboto"/>
                <a:ea typeface="Roboto"/>
                <a:cs typeface="Roboto"/>
                <a:sym typeface="Roboto"/>
              </a:rPr>
              <a:t>Learning rate</a:t>
            </a:r>
            <a:endParaRPr sz="1800">
              <a:solidFill>
                <a:schemeClr val="lt1"/>
              </a:solidFill>
              <a:latin typeface="Roboto"/>
              <a:ea typeface="Roboto"/>
              <a:cs typeface="Roboto"/>
              <a:sym typeface="Roboto"/>
            </a:endParaRPr>
          </a:p>
          <a:p>
            <a:pPr indent="0" lvl="0" marL="0" rtl="0" algn="l">
              <a:spcBef>
                <a:spcPts val="0"/>
              </a:spcBef>
              <a:spcAft>
                <a:spcPts val="0"/>
              </a:spcAft>
              <a:buNone/>
            </a:pPr>
            <a:r>
              <a:t/>
            </a:r>
            <a:endParaRPr sz="1800">
              <a:solidFill>
                <a:schemeClr val="lt1"/>
              </a:solidFill>
              <a:latin typeface="Roboto"/>
              <a:ea typeface="Roboto"/>
              <a:cs typeface="Roboto"/>
              <a:sym typeface="Roboto"/>
            </a:endParaRPr>
          </a:p>
        </p:txBody>
      </p:sp>
      <p:sp>
        <p:nvSpPr>
          <p:cNvPr id="202" name="Google Shape;202;p24"/>
          <p:cNvSpPr txBox="1"/>
          <p:nvPr>
            <p:ph idx="1" type="subTitle"/>
          </p:nvPr>
        </p:nvSpPr>
        <p:spPr>
          <a:xfrm>
            <a:off x="35073" y="1845863"/>
            <a:ext cx="2591100" cy="409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a:t>1)DNN H.P :</a:t>
            </a:r>
            <a:endParaRPr/>
          </a:p>
        </p:txBody>
      </p:sp>
      <p:sp>
        <p:nvSpPr>
          <p:cNvPr id="203" name="Google Shape;203;p24"/>
          <p:cNvSpPr txBox="1"/>
          <p:nvPr>
            <p:ph idx="1" type="subTitle"/>
          </p:nvPr>
        </p:nvSpPr>
        <p:spPr>
          <a:xfrm>
            <a:off x="5963673" y="1845863"/>
            <a:ext cx="2591100" cy="409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a:t>1)Gradient Boosting :</a:t>
            </a:r>
            <a:endParaRPr/>
          </a:p>
        </p:txBody>
      </p:sp>
      <p:sp>
        <p:nvSpPr>
          <p:cNvPr id="204" name="Google Shape;204;p24"/>
          <p:cNvSpPr txBox="1"/>
          <p:nvPr/>
        </p:nvSpPr>
        <p:spPr>
          <a:xfrm>
            <a:off x="450750" y="915000"/>
            <a:ext cx="79188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700">
                <a:solidFill>
                  <a:schemeClr val="lt1"/>
                </a:solidFill>
              </a:rPr>
              <a:t>Optuna Technique: For hyper  parameter tuning.</a:t>
            </a:r>
            <a:endParaRPr sz="1700">
              <a:solidFill>
                <a:schemeClr val="lt1"/>
              </a:solidFill>
            </a:endParaRPr>
          </a:p>
          <a:p>
            <a:pPr indent="0" lvl="0" marL="0" rtl="0" algn="l">
              <a:spcBef>
                <a:spcPts val="0"/>
              </a:spcBef>
              <a:spcAft>
                <a:spcPts val="0"/>
              </a:spcAft>
              <a:buNone/>
            </a:pPr>
            <a:r>
              <a:rPr lang="en-GB" sz="1700">
                <a:solidFill>
                  <a:schemeClr val="lt1"/>
                </a:solidFill>
              </a:rPr>
              <a:t>Optuna finds the optimal hyper parameters by using TPE algorithm.</a:t>
            </a:r>
            <a:endParaRPr sz="17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5"/>
          <p:cNvSpPr txBox="1"/>
          <p:nvPr>
            <p:ph type="ctrTitle"/>
          </p:nvPr>
        </p:nvSpPr>
        <p:spPr>
          <a:xfrm>
            <a:off x="228150" y="21187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Evaluation </a:t>
            </a:r>
            <a:r>
              <a:rPr lang="en-GB"/>
              <a:t>metrics</a:t>
            </a:r>
            <a:r>
              <a:rPr lang="en-GB"/>
              <a:t>:</a:t>
            </a:r>
            <a:endParaRPr/>
          </a:p>
        </p:txBody>
      </p:sp>
      <p:sp>
        <p:nvSpPr>
          <p:cNvPr id="210" name="Google Shape;210;p25"/>
          <p:cNvSpPr txBox="1"/>
          <p:nvPr>
            <p:ph idx="1" type="subTitle"/>
          </p:nvPr>
        </p:nvSpPr>
        <p:spPr>
          <a:xfrm>
            <a:off x="228138" y="105066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a:t>R² </a:t>
            </a:r>
            <a:r>
              <a:rPr lang="en-GB"/>
              <a:t>(Coefficient of determination)                       MAE – Mean Absolute Error</a:t>
            </a:r>
            <a:endParaRPr/>
          </a:p>
        </p:txBody>
      </p:sp>
      <p:pic>
        <p:nvPicPr>
          <p:cNvPr id="211" name="Google Shape;211;p25" title="WhatsApp Image 2025-11-19 at 05.23.56.jpeg"/>
          <p:cNvPicPr preferRelativeResize="0"/>
          <p:nvPr/>
        </p:nvPicPr>
        <p:blipFill>
          <a:blip r:embed="rId3">
            <a:alphaModFix/>
          </a:blip>
          <a:stretch>
            <a:fillRect/>
          </a:stretch>
        </p:blipFill>
        <p:spPr>
          <a:xfrm>
            <a:off x="152400" y="1635963"/>
            <a:ext cx="2295525" cy="1019175"/>
          </a:xfrm>
          <a:prstGeom prst="rect">
            <a:avLst/>
          </a:prstGeom>
          <a:noFill/>
          <a:ln>
            <a:noFill/>
          </a:ln>
        </p:spPr>
      </p:pic>
      <p:pic>
        <p:nvPicPr>
          <p:cNvPr id="212" name="Google Shape;212;p25" title="WhatsApp Image 2025-11-19 at 05.24.34.jpeg"/>
          <p:cNvPicPr preferRelativeResize="0"/>
          <p:nvPr/>
        </p:nvPicPr>
        <p:blipFill>
          <a:blip r:embed="rId4">
            <a:alphaModFix/>
          </a:blip>
          <a:stretch>
            <a:fillRect/>
          </a:stretch>
        </p:blipFill>
        <p:spPr>
          <a:xfrm>
            <a:off x="5338000" y="1635963"/>
            <a:ext cx="2724150" cy="895350"/>
          </a:xfrm>
          <a:prstGeom prst="rect">
            <a:avLst/>
          </a:prstGeom>
          <a:noFill/>
          <a:ln>
            <a:noFill/>
          </a:ln>
        </p:spPr>
      </p:pic>
      <p:sp>
        <p:nvSpPr>
          <p:cNvPr id="213" name="Google Shape;213;p25"/>
          <p:cNvSpPr txBox="1"/>
          <p:nvPr/>
        </p:nvSpPr>
        <p:spPr>
          <a:xfrm>
            <a:off x="885200" y="2931550"/>
            <a:ext cx="7565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solidFill>
                  <a:schemeClr val="lt1"/>
                </a:solidFill>
                <a:latin typeface="Roboto"/>
                <a:ea typeface="Roboto"/>
                <a:cs typeface="Roboto"/>
                <a:sym typeface="Roboto"/>
              </a:rPr>
              <a:t>RMSE- Root mean square error</a:t>
            </a:r>
            <a:endParaRPr sz="2100">
              <a:solidFill>
                <a:schemeClr val="lt1"/>
              </a:solidFill>
              <a:latin typeface="Roboto"/>
              <a:ea typeface="Roboto"/>
              <a:cs typeface="Roboto"/>
              <a:sym typeface="Roboto"/>
            </a:endParaRPr>
          </a:p>
        </p:txBody>
      </p:sp>
      <p:pic>
        <p:nvPicPr>
          <p:cNvPr id="214" name="Google Shape;214;p25" title="WhatsApp Image 2025-11-19 at 05.26.41.jpeg"/>
          <p:cNvPicPr preferRelativeResize="0"/>
          <p:nvPr/>
        </p:nvPicPr>
        <p:blipFill>
          <a:blip r:embed="rId5">
            <a:alphaModFix/>
          </a:blip>
          <a:stretch>
            <a:fillRect/>
          </a:stretch>
        </p:blipFill>
        <p:spPr>
          <a:xfrm>
            <a:off x="152400" y="3591850"/>
            <a:ext cx="5353050" cy="933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ph type="ctrTitle"/>
          </p:nvPr>
        </p:nvSpPr>
        <p:spPr>
          <a:xfrm>
            <a:off x="460950" y="42637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Conclusion :</a:t>
            </a:r>
            <a:endParaRPr/>
          </a:p>
        </p:txBody>
      </p:sp>
      <p:sp>
        <p:nvSpPr>
          <p:cNvPr id="220" name="Google Shape;220;p26"/>
          <p:cNvSpPr txBox="1"/>
          <p:nvPr>
            <p:ph idx="1" type="subTitle"/>
          </p:nvPr>
        </p:nvSpPr>
        <p:spPr>
          <a:xfrm>
            <a:off x="460950" y="1265175"/>
            <a:ext cx="8222100" cy="3623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t/>
            </a:r>
            <a:endParaRPr/>
          </a:p>
          <a:p>
            <a:pPr indent="0" lvl="0" marL="0" rtl="0" algn="l">
              <a:spcBef>
                <a:spcPts val="0"/>
              </a:spcBef>
              <a:spcAft>
                <a:spcPts val="0"/>
              </a:spcAft>
              <a:buNone/>
            </a:pPr>
            <a:r>
              <a:rPr lang="en-GB"/>
              <a:t>Log-transform of the target and power transformation of skewed features helped stabilize variance and reduce model error.</a:t>
            </a:r>
            <a:endParaRPr sz="2260"/>
          </a:p>
          <a:p>
            <a:pPr indent="0" lvl="0" marL="0" rtl="0" algn="l">
              <a:spcBef>
                <a:spcPts val="0"/>
              </a:spcBef>
              <a:spcAft>
                <a:spcPts val="0"/>
              </a:spcAft>
              <a:buNone/>
            </a:pPr>
            <a:r>
              <a:t/>
            </a:r>
            <a:endParaRPr/>
          </a:p>
          <a:p>
            <a:pPr indent="0" lvl="0" marL="0" rtl="0" algn="l">
              <a:spcBef>
                <a:spcPts val="0"/>
              </a:spcBef>
              <a:spcAft>
                <a:spcPts val="0"/>
              </a:spcAft>
              <a:buNone/>
            </a:pPr>
            <a:r>
              <a:rPr lang="en-GB"/>
              <a:t>Successfully built a complete ML pipeline for crop-yield prediction including preprocessing, feature engineering, model development, optimization, and evaluation.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Hyperparameter tuning with Optuna enhanced performance across RF, Gradient Boosting, and DNN models compared to baselines.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optimized Gradient Boosting model a achieved the best overall RMSE, MAE, and R² on the test dataset.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7"/>
          <p:cNvSpPr txBox="1"/>
          <p:nvPr>
            <p:ph type="ctrTitle"/>
          </p:nvPr>
        </p:nvSpPr>
        <p:spPr>
          <a:xfrm>
            <a:off x="460950" y="583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References</a:t>
            </a:r>
            <a:endParaRPr/>
          </a:p>
        </p:txBody>
      </p:sp>
      <p:sp>
        <p:nvSpPr>
          <p:cNvPr id="226" name="Google Shape;226;p27"/>
          <p:cNvSpPr txBox="1"/>
          <p:nvPr>
            <p:ph idx="1" type="subTitle"/>
          </p:nvPr>
        </p:nvSpPr>
        <p:spPr>
          <a:xfrm>
            <a:off x="394200" y="1806295"/>
            <a:ext cx="8222100" cy="2925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1)Rumelhart, Hinton &amp; Williams (1986) — “Learning Internal Representations by Error Propagation”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2)“Using Machine Learning Algorithms for Crop Yield Prediction”</a:t>
            </a:r>
            <a:endParaRPr/>
          </a:p>
          <a:p>
            <a:pPr indent="0" lvl="0" marL="0" rtl="0" algn="l">
              <a:spcBef>
                <a:spcPts val="0"/>
              </a:spcBef>
              <a:spcAft>
                <a:spcPts val="0"/>
              </a:spcAft>
              <a:buNone/>
            </a:pPr>
            <a:r>
              <a:rPr lang="en-GB"/>
              <a:t>Authors: S. Shafi Uddin et al., Agriculture 2021</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3)“Predicting Crop Yield Using Machine Learning: A Review”</a:t>
            </a:r>
            <a:endParaRPr/>
          </a:p>
          <a:p>
            <a:pPr indent="0" lvl="0" marL="0" rtl="0" algn="l">
              <a:spcBef>
                <a:spcPts val="0"/>
              </a:spcBef>
              <a:spcAft>
                <a:spcPts val="0"/>
              </a:spcAft>
              <a:buNone/>
            </a:pPr>
            <a:r>
              <a:rPr lang="en-GB"/>
              <a:t>Authors: Mishra et al., 2018</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